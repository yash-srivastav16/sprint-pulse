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147483262" r:id="rId4"/>
    <p:sldId id="265" r:id="rId5"/>
    <p:sldId id="260" r:id="rId6"/>
    <p:sldId id="261" r:id="rId7"/>
    <p:sldId id="262" r:id="rId8"/>
    <p:sldId id="214748325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8F5"/>
    <a:srgbClr val="FF5F07"/>
    <a:srgbClr val="B969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4A99F0-35C4-C20E-6594-2364B3CDE26D}" v="144" dt="2026-05-16T21:42:33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77803" autoAdjust="0"/>
  </p:normalViewPr>
  <p:slideViewPr>
    <p:cSldViewPr snapToGrid="0" snapToObjects="1">
      <p:cViewPr varScale="1">
        <p:scale>
          <a:sx n="88" d="100"/>
          <a:sy n="88" d="100"/>
        </p:scale>
        <p:origin x="1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932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everyone, we are the Algorithm Avengers Team, and we present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SprintPulse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We help Scrum Masters and delivery leaders detect sprint risks early by correlating data from standups with various collaborative tools (Slack/Teams), versioning tools GitHub/GitLab) into a single actionable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Standup updates often mask real progress. Without cross-checking Jira and Git activity, hidden risks go unnoticed until it is too late to recover.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SprintPulse</a:t>
            </a:r>
            <a:r>
              <a:rPr lang="en-US" dirty="0"/>
              <a:t> connects Jira, GitHub, and standups, then uses AI to flag which stories may spill and recommends the fastest corrective action using Dashboards.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003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9DA28-6FB1-35B3-1968-7B8FEBEDE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45EB4-054F-F068-CB14-52FD7203A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2FC35-3C8A-B68F-DF06-2DE54CD01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users, it cuts tool-hopping. Operationally, it saves approximately 5% of manual analysis. For the business, it prevents costly delays and cascading rework.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6AE4D-464B-DFCE-5868-8A1A4BE4BD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74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Jira dashboards, SprintPulse cross-references standups, code, and tickets to explain what will slip, why it matters, and who should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demo: a Scrum Master opens a live sprint, syncs data, and SprintPulse instantly surfaces blocked and stale work with proof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forward action plan outlines the following key steps: </a:t>
            </a:r>
            <a:r>
              <a:rPr lang="en-US" dirty="0"/>
              <a:t>real-time alerts, Azure DevOps integration, and predictive sprint planning. Long-term vision includes org-wide health scores, autonomous risk mitigation &amp; </a:t>
            </a: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Self healing sprints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Therefore, with </a:t>
            </a:r>
            <a:r>
              <a:rPr lang="en-US" dirty="0" err="1"/>
              <a:t>SprintPulse</a:t>
            </a:r>
            <a:r>
              <a:rPr lang="en-US" dirty="0"/>
              <a:t> there are no more end-of-sprint surprises.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SprintPulse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predictable delivery isn’t a goal - it’s a guarantee of success.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091D40"/>
                </a:solidFill>
                <a:latin typeface="Arial"/>
                <a:cs typeface="Arial"/>
              </a:rPr>
              <a:t>. Thank you!</a:t>
            </a:r>
            <a:endParaRPr lang="en-US" b="0" i="1" dirty="0">
              <a:latin typeface="Arial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 the Algorithm Avengers, eight engineers from Persistent Systems who built SprintPulse end to end.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0BF72-FCFA-4336-861C-524B28499E0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7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Persistent_Blank slide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480" cy="701117"/>
          </a:xfrm>
        </p:spPr>
        <p:txBody>
          <a:bodyPr/>
          <a:lstStyle>
            <a:lvl1pPr>
              <a:defRPr sz="2400">
                <a:solidFill>
                  <a:srgbClr val="021E4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E7A03D6-B851-2644-B887-2D56582A93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2772" y="6279946"/>
            <a:ext cx="3183388" cy="301194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1FE5E21-FD07-B44E-90A3-0254BFCDB49A}" type="slidenum">
              <a:rPr lang="en-US" b="1" smtClean="0">
                <a:solidFill>
                  <a:srgbClr val="FF5F07"/>
                </a:solidFill>
              </a:rPr>
              <a:pPr/>
              <a:t>‹#›</a:t>
            </a:fld>
            <a:r>
              <a:rPr lang="en-US"/>
              <a:t>   Confidential © 2024 Persistent Systems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98366742-2FDD-8DA0-EC25-89C6E1280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0557" y="6227332"/>
            <a:ext cx="1648671" cy="38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78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dargyan/Documents/Semicolons/assets/semicolons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65760"/>
            <a:ext cx="5806440" cy="5486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E224D">
              <a:alpha val="98000"/>
            </a:srgbClr>
          </a:solidFill>
          <a:ln w="12700">
            <a:solidFill>
              <a:srgbClr val="0E2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7772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1155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SprintPulse AI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7830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D8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risk intelligence for teams that need delivery truth before sprint-end surprises.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834640"/>
            <a:ext cx="4663440" cy="2011680"/>
          </a:xfrm>
          <a:prstGeom prst="roundRect">
            <a:avLst>
              <a:gd name="adj" fmla="val 2273"/>
            </a:avLst>
          </a:prstGeom>
          <a:solidFill>
            <a:srgbClr val="102754"/>
          </a:solidFill>
          <a:ln w="12700">
            <a:solidFill>
              <a:srgbClr val="FF5F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31546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5F07"/>
                </a:solidFill>
                <a:latin typeface="Arial" pitchFamily="34" charset="0"/>
                <a:cs typeface="Arial" pitchFamily="34" charset="-120"/>
              </a:rPr>
              <a:t>Algorithm Avengers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358444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SprintPulse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39593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00" dirty="0">
                <a:solidFill>
                  <a:srgbClr val="D8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risk intelligence that catches the gap between what your team says in standup and what they ship.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|  Persistent Systems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356848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| Persistent Systems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594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think you’re on track. You’re </a:t>
            </a:r>
            <a:r>
              <a:rPr lang="en-US" sz="2400" b="1" dirty="0">
                <a:solidFill>
                  <a:srgbClr val="FF5F07"/>
                </a:solidFill>
                <a:latin typeface="Arial" pitchFamily="34" charset="0"/>
                <a:cs typeface="Arial" pitchFamily="34" charset="-120"/>
              </a:rPr>
              <a:t>NOT </a:t>
            </a:r>
            <a:r>
              <a:rPr lang="en-US" sz="24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12680" y="7863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444752"/>
            <a:ext cx="6601968" cy="4562855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9160" y="20345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5F07"/>
                </a:solidFill>
                <a:latin typeface="Arial" pitchFamily="34" charset="0"/>
                <a:cs typeface="Arial" pitchFamily="34" charset="-120"/>
              </a:rPr>
              <a:t>Problem Statement: </a:t>
            </a: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teams spend too much time stitching together status from existing tools &amp; platforms. By the time blockers, stale tickets, or say-do gaps are obvious, the sprint is already at risk. </a:t>
            </a:r>
            <a:r>
              <a:rPr lang="en-US" sz="1200" b="1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There is a need for an early warning system that predicts sprint risks before delivery failure occurs.</a:t>
            </a:r>
          </a:p>
          <a:p>
            <a:endParaRPr lang="en-US" sz="1200" b="1" dirty="0">
              <a:solidFill>
                <a:srgbClr val="091D40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200" b="1" dirty="0"/>
          </a:p>
        </p:txBody>
      </p:sp>
      <p:sp>
        <p:nvSpPr>
          <p:cNvPr id="21" name="Box 1"/>
          <p:cNvSpPr/>
          <p:nvPr/>
        </p:nvSpPr>
        <p:spPr>
          <a:xfrm>
            <a:off x="960121" y="3657600"/>
            <a:ext cx="2880360" cy="1028700"/>
          </a:xfrm>
          <a:prstGeom prst="roundRect">
            <a:avLst>
              <a:gd name="adj" fmla="val 3000"/>
            </a:avLst>
          </a:prstGeom>
          <a:solidFill>
            <a:srgbClr val="FFF8F5"/>
          </a:solidFill>
          <a:ln w="12700">
            <a:solidFill>
              <a:srgbClr val="E7ECF2"/>
            </a:solidFill>
            <a:prstDash val="solid"/>
          </a:ln>
        </p:spPr>
        <p:txBody>
          <a:bodyPr wrap="square" lIns="109728" tIns="91440" rIns="109728" bIns="91440" rtlCol="0" anchor="t">
            <a:normAutofit fontScale="975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Masters, Engineering Managers, Agile teams</a:t>
            </a:r>
          </a:p>
        </p:txBody>
      </p:sp>
      <p:sp>
        <p:nvSpPr>
          <p:cNvPr id="22" name="Box 2"/>
          <p:cNvSpPr/>
          <p:nvPr/>
        </p:nvSpPr>
        <p:spPr>
          <a:xfrm>
            <a:off x="3977641" y="3657600"/>
            <a:ext cx="2880360" cy="1028700"/>
          </a:xfrm>
          <a:prstGeom prst="roundRect">
            <a:avLst>
              <a:gd name="adj" fmla="val 3000"/>
            </a:avLst>
          </a:prstGeom>
          <a:solidFill>
            <a:srgbClr val="FFF8F5"/>
          </a:solidFill>
          <a:ln w="12700">
            <a:solidFill>
              <a:srgbClr val="E7ECF2"/>
            </a:solidFill>
            <a:prstDash val="solid"/>
          </a:ln>
        </p:spPr>
        <p:txBody>
          <a:bodyPr wrap="square" lIns="109728" tIns="91440" rIns="109728" bIns="91440" rtlCol="0" anchor="t">
            <a:normAutofit fontScale="975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 today?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Misalignment between standup updates and actual execution</a:t>
            </a:r>
          </a:p>
        </p:txBody>
      </p:sp>
      <p:sp>
        <p:nvSpPr>
          <p:cNvPr id="23" name="Box 3"/>
          <p:cNvSpPr/>
          <p:nvPr/>
        </p:nvSpPr>
        <p:spPr>
          <a:xfrm>
            <a:off x="960121" y="4823460"/>
            <a:ext cx="2880360" cy="1028700"/>
          </a:xfrm>
          <a:prstGeom prst="roundRect">
            <a:avLst>
              <a:gd name="adj" fmla="val 3000"/>
            </a:avLst>
          </a:prstGeom>
          <a:solidFill>
            <a:srgbClr val="FFF8F5"/>
          </a:solidFill>
          <a:ln w="12700">
            <a:solidFill>
              <a:srgbClr val="E7ECF2"/>
            </a:solidFill>
            <a:prstDash val="solid"/>
          </a:ln>
        </p:spPr>
        <p:txBody>
          <a:bodyPr wrap="square" lIns="109728" tIns="91440" rIns="109728" bIns="91440" rtlCol="0" anchor="t">
            <a:normAutofit fontScale="900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 of projects miss timelines </a:t>
            </a:r>
            <a:r>
              <a:rPr lang="en-US" sz="1200" i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(Standish CHAOS)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~25% of sprints fail to deliver on commitment </a:t>
            </a:r>
            <a:r>
              <a:rPr lang="en-US" sz="1200" i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(scrum.org)</a:t>
            </a:r>
          </a:p>
        </p:txBody>
      </p:sp>
      <p:sp>
        <p:nvSpPr>
          <p:cNvPr id="24" name="Box 4"/>
          <p:cNvSpPr/>
          <p:nvPr/>
        </p:nvSpPr>
        <p:spPr>
          <a:xfrm>
            <a:off x="3977641" y="4823460"/>
            <a:ext cx="2880360" cy="1028700"/>
          </a:xfrm>
          <a:prstGeom prst="roundRect">
            <a:avLst>
              <a:gd name="adj" fmla="val 3000"/>
            </a:avLst>
          </a:prstGeom>
          <a:solidFill>
            <a:srgbClr val="FFF8F5"/>
          </a:solidFill>
          <a:ln w="12700">
            <a:solidFill>
              <a:srgbClr val="E7ECF2"/>
            </a:solidFill>
            <a:prstDash val="solid"/>
          </a:ln>
        </p:spPr>
        <p:txBody>
          <a:bodyPr wrap="square" lIns="109728" tIns="91440" rIns="109728" bIns="91440" rtlCol="0" anchor="t">
            <a:normAutofit fontScale="975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tool fragmentation and distributed teams demand real-time, predictive visibility</a:t>
            </a:r>
          </a:p>
        </p:txBody>
      </p:sp>
      <p:sp>
        <p:nvSpPr>
          <p:cNvPr id="14" name="Shape 12"/>
          <p:cNvSpPr/>
          <p:nvPr/>
        </p:nvSpPr>
        <p:spPr>
          <a:xfrm>
            <a:off x="7498080" y="1453896"/>
            <a:ext cx="3794760" cy="1965960"/>
          </a:xfrm>
          <a:prstGeom prst="roundRect">
            <a:avLst>
              <a:gd name="adj" fmla="val 1860"/>
            </a:avLst>
          </a:prstGeom>
          <a:solidFill>
            <a:srgbClr val="FFF8F5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62672" y="1929384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62672" y="1609344"/>
            <a:ext cx="346557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00" b="1" dirty="0">
                <a:solidFill>
                  <a:srgbClr val="091D40"/>
                </a:solidFill>
                <a:latin typeface="+mj-lt"/>
                <a:ea typeface="Arial" pitchFamily="34" charset="-122"/>
                <a:cs typeface="Arial" pitchFamily="34" charset="-120"/>
              </a:rPr>
              <a:t>Observation</a:t>
            </a:r>
            <a:r>
              <a:rPr lang="en-US" sz="1200" dirty="0">
                <a:solidFill>
                  <a:srgbClr val="091D40"/>
                </a:solidFill>
                <a:latin typeface="+mj-lt"/>
                <a:ea typeface="Arial" pitchFamily="34" charset="-122"/>
                <a:cs typeface="Arial" pitchFamily="34" charset="-120"/>
              </a:rPr>
              <a:t>: Standup updates often show steady progress, but underlying Jira/Git activity reveals stalled or inactive work </a:t>
            </a:r>
          </a:p>
          <a:p>
            <a:pPr marL="190500" indent="-190500">
              <a:buSzPct val="100000"/>
              <a:buChar char="•"/>
            </a:pPr>
            <a:r>
              <a:rPr lang="en-US" sz="1200" b="1" dirty="0">
                <a:solidFill>
                  <a:srgbClr val="091D40"/>
                </a:solidFill>
                <a:latin typeface="+mj-lt"/>
                <a:ea typeface="Arial" pitchFamily="34" charset="-122"/>
                <a:cs typeface="Arial" pitchFamily="34" charset="-120"/>
              </a:rPr>
              <a:t>Business consequence</a:t>
            </a:r>
            <a:r>
              <a:rPr lang="en-US" sz="1200" dirty="0">
                <a:solidFill>
                  <a:srgbClr val="091D40"/>
                </a:solidFill>
                <a:latin typeface="+mj-lt"/>
                <a:ea typeface="Arial" pitchFamily="34" charset="-122"/>
                <a:cs typeface="Arial" pitchFamily="34" charset="-120"/>
              </a:rPr>
              <a:t>: Delivery risks remain hidden until late, leading to missed sprint goals and reduced predictability</a:t>
            </a:r>
            <a:endParaRPr lang="en-US" sz="1200" dirty="0">
              <a:latin typeface="+mj-lt"/>
            </a:endParaRPr>
          </a:p>
          <a:p>
            <a:pPr marL="190500" indent="-190500">
              <a:buSzPct val="100000"/>
              <a:buChar char="•"/>
            </a:pPr>
            <a:r>
              <a:rPr lang="en-US" sz="1200" b="1" dirty="0">
                <a:solidFill>
                  <a:srgbClr val="091D40"/>
                </a:solidFill>
                <a:latin typeface="+mj-lt"/>
                <a:ea typeface="Arial" pitchFamily="34" charset="-122"/>
                <a:cs typeface="Arial" pitchFamily="34" charset="-120"/>
              </a:rPr>
              <a:t>If nothing changes: </a:t>
            </a:r>
            <a:r>
              <a:rPr lang="en-US" sz="1200" dirty="0">
                <a:solidFill>
                  <a:srgbClr val="091D40"/>
                </a:solidFill>
                <a:latin typeface="+mj-lt"/>
                <a:ea typeface="Arial" pitchFamily="34" charset="-122"/>
                <a:cs typeface="Arial" pitchFamily="34" charset="-120"/>
              </a:rPr>
              <a:t>Teams stay reactive, sprint failures persist, and delivery confidence continues to decline</a:t>
            </a:r>
            <a:endParaRPr lang="en-US" sz="1200" dirty="0">
              <a:latin typeface="+mj-lt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98080" y="3977640"/>
            <a:ext cx="3794760" cy="2103120"/>
          </a:xfrm>
          <a:prstGeom prst="roundRect">
            <a:avLst>
              <a:gd name="adj" fmla="val 1739"/>
            </a:avLst>
          </a:prstGeom>
          <a:solidFill>
            <a:srgbClr val="F6F9FC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62672" y="4123944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26680" y="4434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algn="ctr"/>
            <a:r>
              <a:rPr lang="en-US" sz="2400" b="1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By the time risks are visible, it’s already too late to recover the sprint.</a:t>
            </a:r>
            <a:endParaRPr lang="en-US" sz="2400" b="1" dirty="0"/>
          </a:p>
        </p:txBody>
      </p:sp>
      <p:sp>
        <p:nvSpPr>
          <p:cNvPr id="20" name="Text 18"/>
          <p:cNvSpPr/>
          <p:nvPr/>
        </p:nvSpPr>
        <p:spPr>
          <a:xfrm>
            <a:off x="11356848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Rectangle: Diagonal Corners Rounded 28">
            <a:extLst>
              <a:ext uri="{FF2B5EF4-FFF2-40B4-BE49-F238E27FC236}">
                <a16:creationId xmlns:a16="http://schemas.microsoft.com/office/drawing/2014/main" id="{5C13E44C-22CF-E563-00FA-567DE05BD943}"/>
              </a:ext>
            </a:extLst>
          </p:cNvPr>
          <p:cNvSpPr/>
          <p:nvPr/>
        </p:nvSpPr>
        <p:spPr>
          <a:xfrm>
            <a:off x="960121" y="2633472"/>
            <a:ext cx="5897880" cy="795528"/>
          </a:xfrm>
          <a:prstGeom prst="round2DiagRect">
            <a:avLst/>
          </a:prstGeom>
          <a:solidFill>
            <a:srgbClr val="FFF8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Agile teams rely on standups to track progress, but these updates are not aligned with actual Jira and Git activity.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As a result, hidden blockers and delivery risks remain unnoticed until late in the sprint, leading to missed commitments and reduced predictability.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F5BBA38-3995-D602-010C-CC0ED8894DCF}"/>
              </a:ext>
            </a:extLst>
          </p:cNvPr>
          <p:cNvSpPr/>
          <p:nvPr/>
        </p:nvSpPr>
        <p:spPr>
          <a:xfrm>
            <a:off x="685800" y="3520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A5BDE-BD5D-4998-2A52-6A9EA716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D13316-131F-F73D-3C2A-FE355E995803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57DB09-7AE9-1088-537D-138408F20BB4}"/>
              </a:ext>
            </a:extLst>
          </p:cNvPr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D281E1-9038-E806-802F-4B7BB8CF5065}"/>
              </a:ext>
            </a:extLst>
          </p:cNvPr>
          <p:cNvSpPr/>
          <p:nvPr/>
        </p:nvSpPr>
        <p:spPr>
          <a:xfrm>
            <a:off x="54864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| </a:t>
            </a:r>
            <a:r>
              <a:rPr lang="en-US" sz="800">
                <a:solidFill>
                  <a:srgbClr val="667085"/>
                </a:solidFill>
                <a:latin typeface="Arial" pitchFamily="34" charset="0"/>
                <a:cs typeface="Arial" pitchFamily="34" charset="-120"/>
              </a:rPr>
              <a:t>Persistent Systems</a:t>
            </a:r>
            <a:endParaRPr lang="en-US" sz="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8AAF14-DCCE-D95C-2AAA-0AB7817EB590}"/>
              </a:ext>
            </a:extLst>
          </p:cNvPr>
          <p:cNvSpPr/>
          <p:nvPr/>
        </p:nvSpPr>
        <p:spPr>
          <a:xfrm>
            <a:off x="494565" y="384047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0072163-3D26-1493-C56C-2FC5512DE319}"/>
              </a:ext>
            </a:extLst>
          </p:cNvPr>
          <p:cNvSpPr/>
          <p:nvPr/>
        </p:nvSpPr>
        <p:spPr>
          <a:xfrm>
            <a:off x="451104" y="66635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</a:t>
            </a:r>
            <a:r>
              <a:rPr lang="en-US" sz="2400" b="1" err="1">
                <a:solidFill>
                  <a:srgbClr val="FF5F07"/>
                </a:solidFill>
                <a:latin typeface="Arial" pitchFamily="34" charset="0"/>
                <a:cs typeface="Arial" pitchFamily="34" charset="-120"/>
              </a:rPr>
              <a:t>SprintPulse</a:t>
            </a:r>
            <a:endParaRPr lang="en-US" sz="2400" b="1">
              <a:solidFill>
                <a:srgbClr val="FF5F07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0A9A81-0AB2-722C-3B29-22F402B49F19}"/>
              </a:ext>
            </a:extLst>
          </p:cNvPr>
          <p:cNvSpPr/>
          <p:nvPr/>
        </p:nvSpPr>
        <p:spPr>
          <a:xfrm>
            <a:off x="685800" y="119955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converts raw delivery signals into role-aware risk, confidence, and next action.</a:t>
            </a:r>
            <a:endParaRPr lang="en-US" sz="10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C157FB0-2ABD-22D9-C07D-BF082DCA1BF5}"/>
              </a:ext>
            </a:extLst>
          </p:cNvPr>
          <p:cNvSpPr/>
          <p:nvPr/>
        </p:nvSpPr>
        <p:spPr>
          <a:xfrm>
            <a:off x="10012680" y="7863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4A5AFBC-5A88-CDC3-1D42-3FF2A044B9B3}"/>
              </a:ext>
            </a:extLst>
          </p:cNvPr>
          <p:cNvSpPr/>
          <p:nvPr/>
        </p:nvSpPr>
        <p:spPr>
          <a:xfrm>
            <a:off x="11356848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/>
          </a:p>
        </p:txBody>
      </p:sp>
      <p:sp>
        <p:nvSpPr>
          <p:cNvPr id="14" name="Block Ingest">
            <a:extLst>
              <a:ext uri="{FF2B5EF4-FFF2-40B4-BE49-F238E27FC236}">
                <a16:creationId xmlns:a16="http://schemas.microsoft.com/office/drawing/2014/main" id="{E0C78950-63FE-DCC2-89FE-EB5DEF19C947}"/>
              </a:ext>
            </a:extLst>
          </p:cNvPr>
          <p:cNvSpPr/>
          <p:nvPr/>
        </p:nvSpPr>
        <p:spPr>
          <a:xfrm>
            <a:off x="542190" y="1774743"/>
            <a:ext cx="2350000" cy="1200000"/>
          </a:xfrm>
          <a:prstGeom prst="roundRect">
            <a:avLst>
              <a:gd name="adj" fmla="val 3000"/>
            </a:avLst>
          </a:prstGeom>
          <a:solidFill>
            <a:srgbClr val="FFF8F5"/>
          </a:solidFill>
          <a:ln w="12700">
            <a:solidFill>
              <a:srgbClr val="E7ECF2"/>
            </a:solidFill>
            <a:prstDash val="solid"/>
          </a:ln>
        </p:spPr>
        <p:txBody>
          <a:bodyPr wrap="square" lIns="109728" tIns="91440" rIns="109728" bIns="91440" rtlCol="0" anchor="t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Jira tickets, GitHub commits/PRs, and standup text (manual paste, file upload, or Teams transcript webhook)</a:t>
            </a:r>
          </a:p>
        </p:txBody>
      </p:sp>
      <p:sp>
        <p:nvSpPr>
          <p:cNvPr id="16" name="Arrow 1">
            <a:extLst>
              <a:ext uri="{FF2B5EF4-FFF2-40B4-BE49-F238E27FC236}">
                <a16:creationId xmlns:a16="http://schemas.microsoft.com/office/drawing/2014/main" id="{3A02A13D-DD4F-206C-7A80-8A1720913145}"/>
              </a:ext>
            </a:extLst>
          </p:cNvPr>
          <p:cNvSpPr/>
          <p:nvPr/>
        </p:nvSpPr>
        <p:spPr>
          <a:xfrm>
            <a:off x="2961427" y="2347892"/>
            <a:ext cx="300000" cy="1363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5F0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Block Detect">
            <a:extLst>
              <a:ext uri="{FF2B5EF4-FFF2-40B4-BE49-F238E27FC236}">
                <a16:creationId xmlns:a16="http://schemas.microsoft.com/office/drawing/2014/main" id="{EEF0A0C3-3E16-83CC-3108-659E933C871E}"/>
              </a:ext>
            </a:extLst>
          </p:cNvPr>
          <p:cNvSpPr/>
          <p:nvPr/>
        </p:nvSpPr>
        <p:spPr>
          <a:xfrm>
            <a:off x="3344012" y="1759172"/>
            <a:ext cx="2350000" cy="1200000"/>
          </a:xfrm>
          <a:prstGeom prst="roundRect">
            <a:avLst>
              <a:gd name="adj" fmla="val 3000"/>
            </a:avLst>
          </a:prstGeom>
          <a:solidFill>
            <a:srgbClr val="FFF8F5"/>
          </a:solidFill>
          <a:ln w="12700">
            <a:solidFill>
              <a:srgbClr val="E7ECF2"/>
            </a:solidFill>
            <a:prstDash val="solid"/>
          </a:ln>
        </p:spPr>
        <p:txBody>
          <a:bodyPr wrap="square" lIns="109728" tIns="91440" rIns="109728" bIns="9144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TOON-encoded prompts + deterministic rules score every member and emit 5 headline risk flags (vague, stale, copy-paste, say-do gap, blocker anomaly) plus burnout and sprint-end risk</a:t>
            </a:r>
          </a:p>
        </p:txBody>
      </p:sp>
      <p:sp>
        <p:nvSpPr>
          <p:cNvPr id="18" name="Arrow 2">
            <a:extLst>
              <a:ext uri="{FF2B5EF4-FFF2-40B4-BE49-F238E27FC236}">
                <a16:creationId xmlns:a16="http://schemas.microsoft.com/office/drawing/2014/main" id="{DEA21F7B-5F71-B06F-BFBF-F4B57DA2A7FD}"/>
              </a:ext>
            </a:extLst>
          </p:cNvPr>
          <p:cNvSpPr/>
          <p:nvPr/>
        </p:nvSpPr>
        <p:spPr>
          <a:xfrm rot="5400000">
            <a:off x="4428025" y="3117912"/>
            <a:ext cx="300000" cy="1363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5F0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Block Surface">
            <a:extLst>
              <a:ext uri="{FF2B5EF4-FFF2-40B4-BE49-F238E27FC236}">
                <a16:creationId xmlns:a16="http://schemas.microsoft.com/office/drawing/2014/main" id="{AD8A001D-C6D3-4D2D-EDDD-62764B87508B}"/>
              </a:ext>
            </a:extLst>
          </p:cNvPr>
          <p:cNvSpPr/>
          <p:nvPr/>
        </p:nvSpPr>
        <p:spPr>
          <a:xfrm>
            <a:off x="3347084" y="3392100"/>
            <a:ext cx="2350000" cy="1200000"/>
          </a:xfrm>
          <a:prstGeom prst="roundRect">
            <a:avLst>
              <a:gd name="adj" fmla="val 3000"/>
            </a:avLst>
          </a:prstGeom>
          <a:solidFill>
            <a:srgbClr val="FFF8F5"/>
          </a:solidFill>
          <a:ln w="12700">
            <a:solidFill>
              <a:srgbClr val="E7ECF2"/>
            </a:solidFill>
            <a:prstDash val="solid"/>
          </a:ln>
        </p:spPr>
        <p:txBody>
          <a:bodyPr wrap="square" lIns="109728" tIns="91440" rIns="109728" bIns="91440" rtlCol="0" anchor="t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a role-aware decision brief: P1 alert, ranked attention queue, evidence trail, and one recommended action</a:t>
            </a:r>
          </a:p>
        </p:txBody>
      </p:sp>
      <p:sp>
        <p:nvSpPr>
          <p:cNvPr id="21" name="Block Act">
            <a:extLst>
              <a:ext uri="{FF2B5EF4-FFF2-40B4-BE49-F238E27FC236}">
                <a16:creationId xmlns:a16="http://schemas.microsoft.com/office/drawing/2014/main" id="{5CFD92A1-705D-C58A-4301-161E94409A67}"/>
              </a:ext>
            </a:extLst>
          </p:cNvPr>
          <p:cNvSpPr/>
          <p:nvPr/>
        </p:nvSpPr>
        <p:spPr>
          <a:xfrm>
            <a:off x="554096" y="3383386"/>
            <a:ext cx="2350000" cy="1200000"/>
          </a:xfrm>
          <a:prstGeom prst="roundRect">
            <a:avLst>
              <a:gd name="adj" fmla="val 3000"/>
            </a:avLst>
          </a:prstGeom>
          <a:solidFill>
            <a:srgbClr val="FFF8F5"/>
          </a:solidFill>
          <a:ln w="12700">
            <a:solidFill>
              <a:srgbClr val="E7ECF2"/>
            </a:solidFill>
            <a:prstDash val="solid"/>
          </a:ln>
        </p:spPr>
        <p:txBody>
          <a:bodyPr wrap="square" lIns="109728" tIns="91440" rIns="109728" bIns="91440" rtlCol="0" anchor="t">
            <a:normAutofit fontScale="92500"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</a:p>
          <a:p>
            <a:pPr marL="171450" indent="-17145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05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see it on the dashboard; agents read and write it through 6 MCP tools (Claude Code, Cursor, any MCP host)</a:t>
            </a:r>
          </a:p>
        </p:txBody>
      </p:sp>
      <p:sp>
        <p:nvSpPr>
          <p:cNvPr id="22" name="Arrow 2">
            <a:extLst>
              <a:ext uri="{FF2B5EF4-FFF2-40B4-BE49-F238E27FC236}">
                <a16:creationId xmlns:a16="http://schemas.microsoft.com/office/drawing/2014/main" id="{FEA77F8F-EE22-D349-19EB-02F81D82EE99}"/>
              </a:ext>
            </a:extLst>
          </p:cNvPr>
          <p:cNvSpPr/>
          <p:nvPr/>
        </p:nvSpPr>
        <p:spPr>
          <a:xfrm rot="10800000">
            <a:off x="2964839" y="3926503"/>
            <a:ext cx="300000" cy="13636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5F0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0249C4-F4C5-CF3B-2D6D-59ED7E232564}"/>
              </a:ext>
            </a:extLst>
          </p:cNvPr>
          <p:cNvSpPr txBox="1"/>
          <p:nvPr/>
        </p:nvSpPr>
        <p:spPr>
          <a:xfrm>
            <a:off x="450817" y="1507627"/>
            <a:ext cx="3328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What does </a:t>
            </a:r>
            <a:r>
              <a:rPr lang="en-US" sz="1400" b="1" err="1"/>
              <a:t>SprintPulse</a:t>
            </a:r>
            <a:r>
              <a:rPr lang="en-US" sz="1400" b="1"/>
              <a:t> do?</a:t>
            </a:r>
            <a:endParaRPr lang="en-US" sz="14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A664145-9B83-0C98-0971-6601EEE62EF4}"/>
              </a:ext>
            </a:extLst>
          </p:cNvPr>
          <p:cNvCxnSpPr>
            <a:cxnSpLocks/>
          </p:cNvCxnSpPr>
          <p:nvPr/>
        </p:nvCxnSpPr>
        <p:spPr>
          <a:xfrm>
            <a:off x="5751737" y="1590787"/>
            <a:ext cx="0" cy="47368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Shape 12">
            <a:extLst>
              <a:ext uri="{FF2B5EF4-FFF2-40B4-BE49-F238E27FC236}">
                <a16:creationId xmlns:a16="http://schemas.microsoft.com/office/drawing/2014/main" id="{7F3ACFDD-A470-F682-985E-69E89BF4BCCB}"/>
              </a:ext>
            </a:extLst>
          </p:cNvPr>
          <p:cNvSpPr/>
          <p:nvPr/>
        </p:nvSpPr>
        <p:spPr>
          <a:xfrm>
            <a:off x="5968468" y="1473504"/>
            <a:ext cx="6134630" cy="4679411"/>
          </a:xfrm>
          <a:prstGeom prst="roundRect">
            <a:avLst>
              <a:gd name="adj" fmla="val 816"/>
            </a:avLst>
          </a:prstGeom>
          <a:solidFill>
            <a:srgbClr val="F6F9FC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BE4BBD65-2013-A529-5E2B-E4E29D8F62FC}"/>
              </a:ext>
            </a:extLst>
          </p:cNvPr>
          <p:cNvSpPr/>
          <p:nvPr/>
        </p:nvSpPr>
        <p:spPr>
          <a:xfrm>
            <a:off x="7804805" y="1697249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snapshot</a:t>
            </a:r>
            <a:endParaRPr lang="en-US" sz="1200" dirty="0"/>
          </a:p>
        </p:txBody>
      </p:sp>
      <p:sp>
        <p:nvSpPr>
          <p:cNvPr id="8" name="Header DataSources">
            <a:extLst>
              <a:ext uri="{FF2B5EF4-FFF2-40B4-BE49-F238E27FC236}">
                <a16:creationId xmlns:a16="http://schemas.microsoft.com/office/drawing/2014/main" id="{338F78B7-CF59-E402-DADD-C9F395DE4EC2}"/>
              </a:ext>
            </a:extLst>
          </p:cNvPr>
          <p:cNvSpPr/>
          <p:nvPr/>
        </p:nvSpPr>
        <p:spPr>
          <a:xfrm>
            <a:off x="6095847" y="2086771"/>
            <a:ext cx="1796716" cy="257965"/>
          </a:xfrm>
          <a:prstGeom prst="roundRect">
            <a:avLst>
              <a:gd name="adj" fmla="val 16667"/>
            </a:avLst>
          </a:prstGeom>
          <a:solidFill>
            <a:srgbClr val="091D40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5F07"/>
                </a:solidFill>
                <a:latin typeface="Arial" pitchFamily="34" charset="0"/>
              </a:rPr>
              <a:t>1 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</a:rPr>
              <a:t>DATA SOURCES</a:t>
            </a:r>
          </a:p>
        </p:txBody>
      </p:sp>
      <p:sp>
        <p:nvSpPr>
          <p:cNvPr id="10" name="DS Jira">
            <a:extLst>
              <a:ext uri="{FF2B5EF4-FFF2-40B4-BE49-F238E27FC236}">
                <a16:creationId xmlns:a16="http://schemas.microsoft.com/office/drawing/2014/main" id="{307F1DBF-1A04-8B44-E9AC-A861B70E0EC2}"/>
              </a:ext>
            </a:extLst>
          </p:cNvPr>
          <p:cNvSpPr/>
          <p:nvPr/>
        </p:nvSpPr>
        <p:spPr>
          <a:xfrm>
            <a:off x="6112984" y="2455282"/>
            <a:ext cx="1796716" cy="3394526"/>
          </a:xfrm>
          <a:prstGeom prst="roundRect">
            <a:avLst>
              <a:gd name="adj" fmla="val 5000"/>
            </a:avLst>
          </a:prstGeom>
          <a:solidFill>
            <a:srgbClr val="FFF8F5"/>
          </a:solidFill>
          <a:ln w="12700">
            <a:solidFill>
              <a:srgbClr val="E7ECF2"/>
            </a:solidFill>
          </a:ln>
        </p:spPr>
        <p:txBody>
          <a:bodyPr wrap="square" lIns="109728" tIns="72000" rIns="109728" bIns="7200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</a:rPr>
              <a:t>Jira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900" dirty="0">
                <a:solidFill>
                  <a:srgbClr val="091D40"/>
                </a:solidFill>
                <a:latin typeface="Arial" pitchFamily="34" charset="0"/>
              </a:rPr>
              <a:t>Issues, transitions, story points</a:t>
            </a:r>
          </a:p>
          <a:p>
            <a:pPr marL="0" indent="0">
              <a:spcBef>
                <a:spcPts val="300"/>
              </a:spcBef>
              <a:buNone/>
            </a:pPr>
            <a:endParaRPr lang="en-US" sz="900" dirty="0">
              <a:solidFill>
                <a:srgbClr val="091D40"/>
              </a:solidFill>
              <a:latin typeface="Arial" pitchFamily="34" charset="0"/>
            </a:endParaRPr>
          </a:p>
          <a:p>
            <a:r>
              <a:rPr lang="en-US" sz="1100" b="1" dirty="0">
                <a:solidFill>
                  <a:srgbClr val="FF5F07"/>
                </a:solidFill>
                <a:latin typeface="Arial" pitchFamily="34" charset="0"/>
              </a:rPr>
              <a:t>Git</a:t>
            </a:r>
          </a:p>
          <a:p>
            <a:r>
              <a:rPr lang="en-US" sz="900" dirty="0">
                <a:solidFill>
                  <a:srgbClr val="091D40"/>
                </a:solidFill>
                <a:latin typeface="Arial" pitchFamily="34" charset="0"/>
              </a:rPr>
              <a:t>commits, PRs, review pressure</a:t>
            </a:r>
          </a:p>
          <a:p>
            <a:endParaRPr lang="en-US" sz="900" dirty="0">
              <a:solidFill>
                <a:srgbClr val="091D40"/>
              </a:solidFill>
              <a:latin typeface="Arial" pitchFamily="34" charset="0"/>
            </a:endParaRPr>
          </a:p>
          <a:p>
            <a:endParaRPr lang="en-US" sz="900" dirty="0">
              <a:solidFill>
                <a:srgbClr val="091D40"/>
              </a:solidFill>
              <a:latin typeface="Arial" pitchFamily="34" charset="0"/>
            </a:endParaRPr>
          </a:p>
          <a:p>
            <a:r>
              <a:rPr lang="en-US" sz="1100" b="1" dirty="0">
                <a:solidFill>
                  <a:srgbClr val="FF5F07"/>
                </a:solidFill>
                <a:latin typeface="Arial" pitchFamily="34" charset="0"/>
              </a:rPr>
              <a:t>Standups</a:t>
            </a:r>
          </a:p>
          <a:p>
            <a:pPr>
              <a:spcBef>
                <a:spcPts val="300"/>
              </a:spcBef>
            </a:pPr>
            <a:r>
              <a:rPr lang="en-US" sz="900" dirty="0">
                <a:solidFill>
                  <a:srgbClr val="091D40"/>
                </a:solidFill>
                <a:latin typeface="Arial" pitchFamily="34" charset="0"/>
              </a:rPr>
              <a:t>manual paste + Teams transcript</a:t>
            </a:r>
          </a:p>
          <a:p>
            <a:pPr>
              <a:spcBef>
                <a:spcPts val="300"/>
              </a:spcBef>
            </a:pPr>
            <a:endParaRPr lang="en-US" sz="900" dirty="0">
              <a:solidFill>
                <a:srgbClr val="091D40"/>
              </a:solidFill>
              <a:latin typeface="Arial" pitchFamily="34" charset="0"/>
            </a:endParaRPr>
          </a:p>
          <a:p>
            <a:r>
              <a:rPr lang="en-US" sz="1100" b="1" dirty="0">
                <a:solidFill>
                  <a:srgbClr val="FF5F07"/>
                </a:solidFill>
                <a:latin typeface="Arial" pitchFamily="34" charset="0"/>
              </a:rPr>
              <a:t>Microsoft Teams transcripts</a:t>
            </a:r>
          </a:p>
          <a:p>
            <a:pPr>
              <a:spcBef>
                <a:spcPts val="300"/>
              </a:spcBef>
            </a:pPr>
            <a:r>
              <a:rPr lang="en-US" sz="900" dirty="0">
                <a:solidFill>
                  <a:srgbClr val="091D40"/>
                </a:solidFill>
                <a:latin typeface="Arial" pitchFamily="34" charset="0"/>
              </a:rPr>
              <a:t>via Power Automate / Otter / VTT import</a:t>
            </a:r>
          </a:p>
          <a:p>
            <a:pPr>
              <a:spcBef>
                <a:spcPts val="300"/>
              </a:spcBef>
            </a:pPr>
            <a:endParaRPr lang="en-US" sz="900" dirty="0">
              <a:solidFill>
                <a:srgbClr val="091D40"/>
              </a:solidFill>
              <a:latin typeface="Arial" pitchFamily="34" charset="0"/>
            </a:endParaRPr>
          </a:p>
          <a:p>
            <a:pPr>
              <a:spcBef>
                <a:spcPts val="300"/>
              </a:spcBef>
            </a:pPr>
            <a:endParaRPr lang="en-US" sz="900" dirty="0">
              <a:solidFill>
                <a:srgbClr val="091D40"/>
              </a:solidFill>
              <a:latin typeface="Arial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endParaRPr lang="en-US" sz="900" dirty="0">
              <a:solidFill>
                <a:srgbClr val="091D40"/>
              </a:solidFill>
              <a:latin typeface="Arial" pitchFamily="34" charset="0"/>
            </a:endParaRPr>
          </a:p>
        </p:txBody>
      </p:sp>
      <p:sp>
        <p:nvSpPr>
          <p:cNvPr id="11" name="Header Core">
            <a:extLst>
              <a:ext uri="{FF2B5EF4-FFF2-40B4-BE49-F238E27FC236}">
                <a16:creationId xmlns:a16="http://schemas.microsoft.com/office/drawing/2014/main" id="{73A6AA8E-DA59-453A-A13E-F73D7607A4CC}"/>
              </a:ext>
            </a:extLst>
          </p:cNvPr>
          <p:cNvSpPr/>
          <p:nvPr/>
        </p:nvSpPr>
        <p:spPr>
          <a:xfrm>
            <a:off x="8077641" y="2086771"/>
            <a:ext cx="1935039" cy="257965"/>
          </a:xfrm>
          <a:prstGeom prst="roundRect">
            <a:avLst>
              <a:gd name="adj" fmla="val 16667"/>
            </a:avLst>
          </a:prstGeom>
          <a:solidFill>
            <a:srgbClr val="091D40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5F07"/>
                </a:solidFill>
                <a:latin typeface="Arial" pitchFamily="34" charset="0"/>
              </a:rPr>
              <a:t>2 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</a:rPr>
              <a:t>SPRINTPULSE CORE</a:t>
            </a:r>
          </a:p>
        </p:txBody>
      </p:sp>
      <p:sp>
        <p:nvSpPr>
          <p:cNvPr id="12" name="Core API">
            <a:extLst>
              <a:ext uri="{FF2B5EF4-FFF2-40B4-BE49-F238E27FC236}">
                <a16:creationId xmlns:a16="http://schemas.microsoft.com/office/drawing/2014/main" id="{69B6341E-2E35-68E1-544C-24839FDA6DE1}"/>
              </a:ext>
            </a:extLst>
          </p:cNvPr>
          <p:cNvSpPr/>
          <p:nvPr/>
        </p:nvSpPr>
        <p:spPr>
          <a:xfrm>
            <a:off x="8103005" y="2444736"/>
            <a:ext cx="1935039" cy="1172336"/>
          </a:xfrm>
          <a:prstGeom prst="roundRect">
            <a:avLst>
              <a:gd name="adj" fmla="val 5000"/>
            </a:avLst>
          </a:prstGeom>
          <a:solidFill>
            <a:srgbClr val="FFF8F5"/>
          </a:solidFill>
          <a:ln w="12700">
            <a:solidFill>
              <a:srgbClr val="E7ECF2"/>
            </a:solidFill>
          </a:ln>
        </p:spPr>
        <p:txBody>
          <a:bodyPr wrap="square" lIns="109728" tIns="72000" rIns="109728" bIns="7200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</a:rPr>
              <a:t>Express API + </a:t>
            </a:r>
            <a:r>
              <a:rPr lang="en-US" sz="1100" b="1" dirty="0" err="1">
                <a:solidFill>
                  <a:srgbClr val="FF5F07"/>
                </a:solidFill>
                <a:latin typeface="Arial" pitchFamily="34" charset="0"/>
              </a:rPr>
              <a:t>Supabase</a:t>
            </a:r>
            <a:endParaRPr lang="en-US" sz="1100" b="1" dirty="0">
              <a:solidFill>
                <a:srgbClr val="FF5F07"/>
              </a:solidFill>
              <a:latin typeface="Arial" pitchFamily="34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900" dirty="0">
                <a:solidFill>
                  <a:srgbClr val="091D40"/>
                </a:solidFill>
                <a:latin typeface="Arial" pitchFamily="34" charset="0"/>
              </a:rPr>
              <a:t>REST + Auth Gate (API key OR </a:t>
            </a:r>
            <a:r>
              <a:rPr lang="en-US" sz="900" dirty="0" err="1">
                <a:solidFill>
                  <a:srgbClr val="091D40"/>
                </a:solidFill>
                <a:latin typeface="Arial" pitchFamily="34" charset="0"/>
              </a:rPr>
              <a:t>Supabase</a:t>
            </a:r>
            <a:r>
              <a:rPr lang="en-US" sz="900" dirty="0">
                <a:solidFill>
                  <a:srgbClr val="091D40"/>
                </a:solidFill>
                <a:latin typeface="Arial" pitchFamily="34" charset="0"/>
              </a:rPr>
              <a:t> JWT)</a:t>
            </a:r>
          </a:p>
          <a:p>
            <a:pPr>
              <a:spcBef>
                <a:spcPts val="300"/>
              </a:spcBef>
            </a:pPr>
            <a:r>
              <a:rPr lang="en-US" sz="900" dirty="0">
                <a:solidFill>
                  <a:srgbClr val="091D40"/>
                </a:solidFill>
                <a:latin typeface="Arial" pitchFamily="34" charset="0"/>
              </a:rPr>
              <a:t>projects, sprints, standups, signals, webhook tokens</a:t>
            </a:r>
          </a:p>
          <a:p>
            <a:pPr marL="0" indent="0">
              <a:spcBef>
                <a:spcPts val="300"/>
              </a:spcBef>
              <a:buNone/>
            </a:pPr>
            <a:endParaRPr lang="en-US" sz="900" dirty="0">
              <a:solidFill>
                <a:srgbClr val="091D40"/>
              </a:solidFill>
              <a:latin typeface="Arial" pitchFamily="34" charset="0"/>
            </a:endParaRPr>
          </a:p>
        </p:txBody>
      </p:sp>
      <p:sp>
        <p:nvSpPr>
          <p:cNvPr id="13" name="Core AI">
            <a:extLst>
              <a:ext uri="{FF2B5EF4-FFF2-40B4-BE49-F238E27FC236}">
                <a16:creationId xmlns:a16="http://schemas.microsoft.com/office/drawing/2014/main" id="{A33CDE2A-2353-B5D0-38CA-2E98163D64E6}"/>
              </a:ext>
            </a:extLst>
          </p:cNvPr>
          <p:cNvSpPr/>
          <p:nvPr/>
        </p:nvSpPr>
        <p:spPr>
          <a:xfrm>
            <a:off x="8124533" y="4851226"/>
            <a:ext cx="1960403" cy="1210712"/>
          </a:xfrm>
          <a:prstGeom prst="roundRect">
            <a:avLst>
              <a:gd name="adj" fmla="val 5000"/>
            </a:avLst>
          </a:prstGeom>
          <a:solidFill>
            <a:srgbClr val="FFF8F5"/>
          </a:solidFill>
          <a:ln w="12700">
            <a:solidFill>
              <a:srgbClr val="E7ECF2"/>
            </a:solidFill>
          </a:ln>
        </p:spPr>
        <p:txBody>
          <a:bodyPr wrap="square" lIns="109728" tIns="72000" rIns="109728" bIns="7200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</a:rPr>
              <a:t>AI Detection Engine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900" dirty="0">
                <a:solidFill>
                  <a:srgbClr val="091D40"/>
                </a:solidFill>
                <a:latin typeface="Arial" pitchFamily="34" charset="0"/>
              </a:rPr>
              <a:t>TOON-encoded prompts + AI model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800" i="1" dirty="0">
                <a:solidFill>
                  <a:srgbClr val="667085"/>
                </a:solidFill>
                <a:latin typeface="Arial" pitchFamily="34" charset="0"/>
              </a:rPr>
              <a:t>VAGUE_UPDATES  |  SAY_DO_GAP  |  BLOCKER_UNRESOLVED  |  BURNOUT_SIGNAL  |  STALE_WORK</a:t>
            </a:r>
          </a:p>
        </p:txBody>
      </p:sp>
      <p:sp>
        <p:nvSpPr>
          <p:cNvPr id="28" name="Header Consumers">
            <a:extLst>
              <a:ext uri="{FF2B5EF4-FFF2-40B4-BE49-F238E27FC236}">
                <a16:creationId xmlns:a16="http://schemas.microsoft.com/office/drawing/2014/main" id="{DECE2A7A-E244-F221-8519-4DF144A1B4F6}"/>
              </a:ext>
            </a:extLst>
          </p:cNvPr>
          <p:cNvSpPr/>
          <p:nvPr/>
        </p:nvSpPr>
        <p:spPr>
          <a:xfrm>
            <a:off x="10424633" y="2092547"/>
            <a:ext cx="1636147" cy="259524"/>
          </a:xfrm>
          <a:prstGeom prst="roundRect">
            <a:avLst>
              <a:gd name="adj" fmla="val 16667"/>
            </a:avLst>
          </a:prstGeom>
          <a:solidFill>
            <a:srgbClr val="091D40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5F07"/>
                </a:solidFill>
                <a:latin typeface="Arial" pitchFamily="34" charset="0"/>
              </a:rPr>
              <a:t>3 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</a:rPr>
              <a:t>CONSUMERS</a:t>
            </a:r>
          </a:p>
        </p:txBody>
      </p:sp>
      <p:sp>
        <p:nvSpPr>
          <p:cNvPr id="29" name="Consumer Dashboard">
            <a:extLst>
              <a:ext uri="{FF2B5EF4-FFF2-40B4-BE49-F238E27FC236}">
                <a16:creationId xmlns:a16="http://schemas.microsoft.com/office/drawing/2014/main" id="{10A869C8-907F-AF13-EBA4-8D28AA88F611}"/>
              </a:ext>
            </a:extLst>
          </p:cNvPr>
          <p:cNvSpPr/>
          <p:nvPr/>
        </p:nvSpPr>
        <p:spPr>
          <a:xfrm>
            <a:off x="10424633" y="2549955"/>
            <a:ext cx="1636147" cy="937403"/>
          </a:xfrm>
          <a:prstGeom prst="roundRect">
            <a:avLst>
              <a:gd name="adj" fmla="val 5000"/>
            </a:avLst>
          </a:prstGeom>
          <a:solidFill>
            <a:srgbClr val="FFF8F5"/>
          </a:solidFill>
          <a:ln w="12700">
            <a:solidFill>
              <a:srgbClr val="E7ECF2"/>
            </a:solidFill>
          </a:ln>
        </p:spPr>
        <p:txBody>
          <a:bodyPr wrap="square" lIns="109728" tIns="72000" rIns="109728" bIns="720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</a:rPr>
              <a:t>React SPA dashboard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900" dirty="0">
                <a:solidFill>
                  <a:srgbClr val="091D40"/>
                </a:solidFill>
                <a:latin typeface="Arial" pitchFamily="34" charset="0"/>
              </a:rPr>
              <a:t>role-aware: Scrum Master, EM, PO, QA, Lead, Developer</a:t>
            </a:r>
          </a:p>
        </p:txBody>
      </p:sp>
      <p:sp>
        <p:nvSpPr>
          <p:cNvPr id="34" name="Consumer MCP">
            <a:extLst>
              <a:ext uri="{FF2B5EF4-FFF2-40B4-BE49-F238E27FC236}">
                <a16:creationId xmlns:a16="http://schemas.microsoft.com/office/drawing/2014/main" id="{E6D6A5C8-74C0-A070-1302-3BB58E5525A8}"/>
              </a:ext>
            </a:extLst>
          </p:cNvPr>
          <p:cNvSpPr/>
          <p:nvPr/>
        </p:nvSpPr>
        <p:spPr>
          <a:xfrm>
            <a:off x="10424633" y="3699955"/>
            <a:ext cx="1636147" cy="937404"/>
          </a:xfrm>
          <a:prstGeom prst="roundRect">
            <a:avLst>
              <a:gd name="adj" fmla="val 5000"/>
            </a:avLst>
          </a:prstGeom>
          <a:solidFill>
            <a:srgbClr val="FFF8F5"/>
          </a:solidFill>
          <a:ln w="12700">
            <a:solidFill>
              <a:srgbClr val="E7ECF2"/>
            </a:solidFill>
          </a:ln>
        </p:spPr>
        <p:txBody>
          <a:bodyPr wrap="square" lIns="109728" tIns="72000" rIns="109728" bIns="7200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</a:rPr>
              <a:t>MCP Server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900" dirty="0">
                <a:solidFill>
                  <a:srgbClr val="091D40"/>
                </a:solidFill>
                <a:latin typeface="Arial" pitchFamily="34" charset="0"/>
              </a:rPr>
              <a:t>6 agent-callable tools → Claude Code, Cursor, autonomous SLC planning</a:t>
            </a:r>
          </a:p>
        </p:txBody>
      </p:sp>
      <p:sp>
        <p:nvSpPr>
          <p:cNvPr id="35" name="Consumer Webhook">
            <a:extLst>
              <a:ext uri="{FF2B5EF4-FFF2-40B4-BE49-F238E27FC236}">
                <a16:creationId xmlns:a16="http://schemas.microsoft.com/office/drawing/2014/main" id="{C6EB478D-8794-520E-6E1D-7CB37C34A96F}"/>
              </a:ext>
            </a:extLst>
          </p:cNvPr>
          <p:cNvSpPr/>
          <p:nvPr/>
        </p:nvSpPr>
        <p:spPr>
          <a:xfrm>
            <a:off x="10424633" y="4904865"/>
            <a:ext cx="1636147" cy="882493"/>
          </a:xfrm>
          <a:prstGeom prst="roundRect">
            <a:avLst>
              <a:gd name="adj" fmla="val 5000"/>
            </a:avLst>
          </a:prstGeom>
          <a:solidFill>
            <a:srgbClr val="FFF8F5"/>
          </a:solidFill>
          <a:ln w="12700">
            <a:solidFill>
              <a:srgbClr val="E7ECF2"/>
            </a:solidFill>
          </a:ln>
        </p:spPr>
        <p:txBody>
          <a:bodyPr wrap="square" lIns="109728" tIns="72000" rIns="109728" bIns="7200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</a:rPr>
              <a:t>Webhook endpoint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900" dirty="0">
                <a:solidFill>
                  <a:srgbClr val="091D40"/>
                </a:solidFill>
                <a:latin typeface="Arial" pitchFamily="34" charset="0"/>
              </a:rPr>
              <a:t>transcript-in + real-time event triggers</a:t>
            </a:r>
          </a:p>
        </p:txBody>
      </p:sp>
      <p:sp>
        <p:nvSpPr>
          <p:cNvPr id="38" name="Arrow: Left-Right 37">
            <a:extLst>
              <a:ext uri="{FF2B5EF4-FFF2-40B4-BE49-F238E27FC236}">
                <a16:creationId xmlns:a16="http://schemas.microsoft.com/office/drawing/2014/main" id="{B9F0A8DE-3967-3637-A4BA-ED72A15E5CE7}"/>
              </a:ext>
            </a:extLst>
          </p:cNvPr>
          <p:cNvSpPr/>
          <p:nvPr/>
        </p:nvSpPr>
        <p:spPr>
          <a:xfrm rot="5400000">
            <a:off x="8486515" y="4114840"/>
            <a:ext cx="1172337" cy="238883"/>
          </a:xfrm>
          <a:prstGeom prst="leftRightArrow">
            <a:avLst/>
          </a:prstGeom>
          <a:solidFill>
            <a:srgbClr val="FF5F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4FA97C1B-D7CE-6DA3-3AD6-29B3DC528717}"/>
              </a:ext>
            </a:extLst>
          </p:cNvPr>
          <p:cNvSpPr/>
          <p:nvPr/>
        </p:nvSpPr>
        <p:spPr>
          <a:xfrm>
            <a:off x="7933146" y="3030904"/>
            <a:ext cx="191387" cy="201168"/>
          </a:xfrm>
          <a:prstGeom prst="rightArrow">
            <a:avLst/>
          </a:prstGeom>
          <a:solidFill>
            <a:srgbClr val="FF5F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Left-Right 40">
            <a:extLst>
              <a:ext uri="{FF2B5EF4-FFF2-40B4-BE49-F238E27FC236}">
                <a16:creationId xmlns:a16="http://schemas.microsoft.com/office/drawing/2014/main" id="{AAC96337-E8D6-28CF-9F85-B5EA8B955197}"/>
              </a:ext>
            </a:extLst>
          </p:cNvPr>
          <p:cNvSpPr/>
          <p:nvPr/>
        </p:nvSpPr>
        <p:spPr>
          <a:xfrm>
            <a:off x="10038043" y="2997510"/>
            <a:ext cx="386589" cy="173243"/>
          </a:xfrm>
          <a:prstGeom prst="leftRightArrow">
            <a:avLst>
              <a:gd name="adj1" fmla="val 66413"/>
              <a:gd name="adj2" fmla="val 50000"/>
            </a:avLst>
          </a:prstGeom>
          <a:solidFill>
            <a:srgbClr val="FF5F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B4575957-6805-8239-29B8-FF5487384D75}"/>
              </a:ext>
            </a:extLst>
          </p:cNvPr>
          <p:cNvSpPr/>
          <p:nvPr/>
        </p:nvSpPr>
        <p:spPr>
          <a:xfrm rot="2684472">
            <a:off x="9859510" y="3682447"/>
            <a:ext cx="656666" cy="231985"/>
          </a:xfrm>
          <a:prstGeom prst="leftRightArrow">
            <a:avLst/>
          </a:prstGeom>
          <a:solidFill>
            <a:srgbClr val="FF5F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3F136CA0-B466-6938-9C85-952605A06A08}"/>
              </a:ext>
            </a:extLst>
          </p:cNvPr>
          <p:cNvSpPr/>
          <p:nvPr/>
        </p:nvSpPr>
        <p:spPr>
          <a:xfrm rot="14085272">
            <a:off x="9177817" y="4174177"/>
            <a:ext cx="1646777" cy="242983"/>
          </a:xfrm>
          <a:prstGeom prst="rightArrow">
            <a:avLst/>
          </a:prstGeom>
          <a:solidFill>
            <a:srgbClr val="FF5F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7B525A-896D-FFEA-D50A-2E5AD8633C50}"/>
              </a:ext>
            </a:extLst>
          </p:cNvPr>
          <p:cNvSpPr txBox="1"/>
          <p:nvPr/>
        </p:nvSpPr>
        <p:spPr>
          <a:xfrm rot="2652508">
            <a:off x="9961752" y="3687469"/>
            <a:ext cx="759893" cy="19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" i="1" dirty="0">
                <a:latin typeface="Arial" pitchFamily="34" charset="0"/>
              </a:rPr>
              <a:t>calls /</a:t>
            </a:r>
            <a:r>
              <a:rPr lang="en-US" sz="650" i="1" dirty="0" err="1">
                <a:latin typeface="Arial" pitchFamily="34" charset="0"/>
              </a:rPr>
              <a:t>api</a:t>
            </a:r>
            <a:r>
              <a:rPr lang="en-US" sz="650" i="1" dirty="0">
                <a:latin typeface="Arial" pitchFamily="34" charset="0"/>
              </a:rPr>
              <a:t>/*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FF15B-F24D-A56E-39D9-DA2532974C0F}"/>
              </a:ext>
            </a:extLst>
          </p:cNvPr>
          <p:cNvSpPr/>
          <p:nvPr/>
        </p:nvSpPr>
        <p:spPr>
          <a:xfrm>
            <a:off x="1898089" y="4801173"/>
            <a:ext cx="3743738" cy="1507875"/>
          </a:xfrm>
          <a:prstGeom prst="rect">
            <a:avLst/>
          </a:prstGeom>
          <a:solidFill>
            <a:srgbClr val="FFF8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300" b="1" dirty="0">
                <a:solidFill>
                  <a:srgbClr val="FF5F07"/>
                </a:solidFill>
                <a:latin typeface="Arial"/>
                <a:cs typeface="Arial"/>
              </a:rPr>
              <a:t>Our approach follows the 3 Cs</a:t>
            </a:r>
            <a:endParaRPr lang="en-U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chemeClr val="tx1"/>
                </a:solidFill>
                <a:cs typeface="Arial"/>
              </a:rPr>
              <a:t>Core</a:t>
            </a:r>
            <a:r>
              <a:rPr lang="en-US" sz="1000" dirty="0">
                <a:solidFill>
                  <a:schemeClr val="tx1"/>
                </a:solidFill>
                <a:cs typeface="Arial"/>
              </a:rPr>
              <a:t>: 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11 prompt templates + 8 risk flags + </a:t>
            </a:r>
            <a:r>
              <a:rPr lang="en-US" sz="1000">
                <a:solidFill>
                  <a:schemeClr val="tx1"/>
                </a:solidFill>
                <a:ea typeface="+mn-lt"/>
                <a:cs typeface="+mn-lt"/>
              </a:rPr>
              <a:t>OpenAI with 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rule-based fallback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chemeClr val="tx1"/>
                </a:solidFill>
                <a:ea typeface="+mn-lt"/>
                <a:cs typeface="+mn-lt"/>
              </a:rPr>
              <a:t>Context</a:t>
            </a:r>
            <a:r>
              <a:rPr lang="en-US" sz="1000" dirty="0">
                <a:solidFill>
                  <a:schemeClr val="tx1"/>
                </a:solidFill>
                <a:cs typeface="Arial"/>
              </a:rPr>
              <a:t>: 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TOON-encoded prompts (~47% fewer tokens), 3 signal streams correlated, role-aware, evidence-linked output </a:t>
            </a:r>
            <a:endParaRPr lang="en-US" sz="1000" dirty="0">
              <a:solidFill>
                <a:schemeClr val="tx1"/>
              </a:solidFill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000" b="1" dirty="0">
                <a:solidFill>
                  <a:schemeClr val="tx1"/>
                </a:solidFill>
                <a:cs typeface="Arial"/>
              </a:rPr>
              <a:t>Collaboration</a:t>
            </a:r>
            <a:r>
              <a:rPr lang="en-US" sz="1000" dirty="0">
                <a:solidFill>
                  <a:schemeClr val="tx1"/>
                </a:solidFill>
                <a:cs typeface="Arial"/>
              </a:rPr>
              <a:t>: </a:t>
            </a:r>
            <a:r>
              <a:rPr lang="en-US" sz="1000" dirty="0">
                <a:solidFill>
                  <a:schemeClr val="tx1"/>
                </a:solidFill>
                <a:ea typeface="+mn-lt"/>
                <a:cs typeface="+mn-lt"/>
              </a:rPr>
              <a:t>Same intelligence surface for humans (dashboard) and agents (6 MCP tools) — both see the same evidence trail  </a:t>
            </a:r>
            <a:endParaRPr lang="en-US" dirty="0">
              <a:solidFill>
                <a:schemeClr val="tx1"/>
              </a:solidFill>
              <a:cs typeface="Arial"/>
            </a:endParaRPr>
          </a:p>
          <a:p>
            <a:pPr marL="171450" indent="-171450">
              <a:buFont typeface="Arial"/>
              <a:buChar char="•"/>
            </a:pPr>
            <a:endParaRPr lang="en-US" sz="10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12ECAA-E44F-1EF3-A2EB-03CD37F69FB6}"/>
              </a:ext>
            </a:extLst>
          </p:cNvPr>
          <p:cNvSpPr/>
          <p:nvPr/>
        </p:nvSpPr>
        <p:spPr>
          <a:xfrm>
            <a:off x="546164" y="4800000"/>
            <a:ext cx="1187991" cy="1511454"/>
          </a:xfrm>
          <a:prstGeom prst="rect">
            <a:avLst/>
          </a:prstGeom>
          <a:solidFill>
            <a:srgbClr val="FFF8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200"/>
              </a:spcAft>
            </a:pPr>
            <a:r>
              <a:rPr lang="en-US" sz="1300" b="1">
                <a:solidFill>
                  <a:srgbClr val="FF5F07"/>
                </a:solidFill>
                <a:cs typeface="Arial"/>
              </a:rPr>
              <a:t>Tech used:</a:t>
            </a:r>
            <a:endParaRPr lang="en-US" sz="1300">
              <a:solidFill>
                <a:srgbClr val="000000"/>
              </a:solidFill>
              <a:cs typeface="Arial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Arial,Sans-Serif"/>
              <a:buChar char="•"/>
            </a:pPr>
            <a:r>
              <a:rPr lang="en-US" sz="1100">
                <a:solidFill>
                  <a:srgbClr val="091D40"/>
                </a:solidFill>
                <a:cs typeface="Arial"/>
              </a:rPr>
              <a:t>Node.js</a:t>
            </a:r>
            <a:endParaRPr lang="en-US" sz="1100">
              <a:solidFill>
                <a:srgbClr val="000000"/>
              </a:solidFill>
              <a:cs typeface="Arial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Arial,Sans-Serif"/>
              <a:buChar char="•"/>
            </a:pPr>
            <a:r>
              <a:rPr lang="en-US" sz="1100">
                <a:solidFill>
                  <a:srgbClr val="091D40"/>
                </a:solidFill>
                <a:cs typeface="Arial"/>
              </a:rPr>
              <a:t>PostgreSQL</a:t>
            </a:r>
            <a:endParaRPr lang="en-US" sz="1100">
              <a:solidFill>
                <a:srgbClr val="000000"/>
              </a:solidFill>
              <a:cs typeface="Arial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Arial,Sans-Serif"/>
              <a:buChar char="•"/>
            </a:pPr>
            <a:r>
              <a:rPr lang="en-US" sz="1100">
                <a:solidFill>
                  <a:srgbClr val="091D40"/>
                </a:solidFill>
                <a:cs typeface="Arial"/>
              </a:rPr>
              <a:t>React.js</a:t>
            </a:r>
            <a:endParaRPr lang="en-US" sz="1100">
              <a:solidFill>
                <a:srgbClr val="000000"/>
              </a:solidFill>
              <a:cs typeface="Arial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Arial,Sans-Serif"/>
              <a:buChar char="•"/>
            </a:pPr>
            <a:r>
              <a:rPr lang="en-US" sz="1100">
                <a:solidFill>
                  <a:srgbClr val="091D40"/>
                </a:solidFill>
                <a:cs typeface="Arial"/>
              </a:rPr>
              <a:t>Tailwind CSS</a:t>
            </a:r>
            <a:endParaRPr lang="en-US" sz="1100">
              <a:solidFill>
                <a:srgbClr val="00000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6874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88B41-36F6-F712-B4C6-8CB050E2E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30C3B7-2854-66F0-1429-73758D5C5D12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70A33CF-ACAC-0872-0A15-38B5F1EF3DD4}"/>
              </a:ext>
            </a:extLst>
          </p:cNvPr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9196FA-752F-2DD8-E09B-82A6358A83AF}"/>
              </a:ext>
            </a:extLst>
          </p:cNvPr>
          <p:cNvSpPr/>
          <p:nvPr/>
        </p:nvSpPr>
        <p:spPr>
          <a:xfrm>
            <a:off x="54864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| </a:t>
            </a:r>
            <a:r>
              <a:rPr lang="en-US" sz="800" dirty="0">
                <a:solidFill>
                  <a:srgbClr val="667085"/>
                </a:solidFill>
                <a:latin typeface="Arial" pitchFamily="34" charset="0"/>
                <a:cs typeface="Arial" pitchFamily="34" charset="-120"/>
              </a:rPr>
              <a:t>Persistent Systems</a:t>
            </a:r>
            <a:endParaRPr lang="en-US" sz="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F778E3-E01C-6180-F1EB-B05FF3F3719B}"/>
              </a:ext>
            </a:extLst>
          </p:cNvPr>
          <p:cNvSpPr/>
          <p:nvPr/>
        </p:nvSpPr>
        <p:spPr>
          <a:xfrm>
            <a:off x="685800" y="5303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E93A66-B99A-B34A-34D8-9217D89B6036}"/>
              </a:ext>
            </a:extLst>
          </p:cNvPr>
          <p:cNvSpPr/>
          <p:nvPr/>
        </p:nvSpPr>
        <p:spPr>
          <a:xfrm>
            <a:off x="685800" y="8412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value SprintPulse creates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5031C8E-161B-7820-8DD1-D212E178F8D8}"/>
              </a:ext>
            </a:extLst>
          </p:cNvPr>
          <p:cNvSpPr/>
          <p:nvPr/>
        </p:nvSpPr>
        <p:spPr>
          <a:xfrm>
            <a:off x="685800" y="13898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manual triage, earlier intervention, and a clearer path to sprint completion.</a:t>
            </a: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789F06F-A8D0-17D4-C038-D17BF93797FA}"/>
              </a:ext>
            </a:extLst>
          </p:cNvPr>
          <p:cNvSpPr/>
          <p:nvPr/>
        </p:nvSpPr>
        <p:spPr>
          <a:xfrm>
            <a:off x="10012680" y="7863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3B86EB8-9D8C-DFD0-F62B-6755AE0E2646}"/>
              </a:ext>
            </a:extLst>
          </p:cNvPr>
          <p:cNvSpPr/>
          <p:nvPr/>
        </p:nvSpPr>
        <p:spPr>
          <a:xfrm>
            <a:off x="822960" y="1773298"/>
            <a:ext cx="2240280" cy="1055033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BCC7A4B-915C-AF8A-6573-3C3AA82AE275}"/>
              </a:ext>
            </a:extLst>
          </p:cNvPr>
          <p:cNvSpPr/>
          <p:nvPr/>
        </p:nvSpPr>
        <p:spPr>
          <a:xfrm>
            <a:off x="969264" y="191960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560764D-381A-D64F-7510-2800C4ECBFAC}"/>
              </a:ext>
            </a:extLst>
          </p:cNvPr>
          <p:cNvSpPr/>
          <p:nvPr/>
        </p:nvSpPr>
        <p:spPr>
          <a:xfrm>
            <a:off x="969264" y="221221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flagged in days 2-4 of a 14-day sprint</a:t>
            </a:r>
            <a:endParaRPr lang="en-US" sz="1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CD96750-33FF-5F67-5EFD-88F50FC3F38B}"/>
              </a:ext>
            </a:extLst>
          </p:cNvPr>
          <p:cNvSpPr/>
          <p:nvPr/>
        </p:nvSpPr>
        <p:spPr>
          <a:xfrm>
            <a:off x="3246120" y="1773298"/>
            <a:ext cx="2240280" cy="105503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341496C-0236-14C7-B31D-72926F9266F4}"/>
              </a:ext>
            </a:extLst>
          </p:cNvPr>
          <p:cNvSpPr/>
          <p:nvPr/>
        </p:nvSpPr>
        <p:spPr>
          <a:xfrm>
            <a:off x="3392424" y="191960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value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DEECCFE-DD0D-15C3-C99C-0351F67770EA}"/>
              </a:ext>
            </a:extLst>
          </p:cNvPr>
          <p:cNvSpPr/>
          <p:nvPr/>
        </p:nvSpPr>
        <p:spPr>
          <a:xfrm>
            <a:off x="3392424" y="221221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latin typeface="+mj-lt"/>
              </a:rPr>
              <a:t>5 tool -&gt; 1 dashboard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E68FAB7-1A65-4791-BAC1-051C4AFCB7E2}"/>
              </a:ext>
            </a:extLst>
          </p:cNvPr>
          <p:cNvSpPr/>
          <p:nvPr/>
        </p:nvSpPr>
        <p:spPr>
          <a:xfrm>
            <a:off x="5669280" y="1773298"/>
            <a:ext cx="2240280" cy="105503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A506109-1886-23A7-1E03-17CBF5EDBC85}"/>
              </a:ext>
            </a:extLst>
          </p:cNvPr>
          <p:cNvSpPr/>
          <p:nvPr/>
        </p:nvSpPr>
        <p:spPr>
          <a:xfrm>
            <a:off x="5815584" y="191960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value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499E6B5-A32F-0A82-1FE8-5E01A5EEFAAB}"/>
              </a:ext>
            </a:extLst>
          </p:cNvPr>
          <p:cNvSpPr/>
          <p:nvPr/>
        </p:nvSpPr>
        <p:spPr>
          <a:xfrm>
            <a:off x="5815584" y="221221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hours/sprint saved per Scrum Master</a:t>
            </a:r>
            <a:endParaRPr lang="en-US" sz="18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E25F82C-D1DF-76AD-A470-38BD8AF1C25D}"/>
              </a:ext>
            </a:extLst>
          </p:cNvPr>
          <p:cNvSpPr/>
          <p:nvPr/>
        </p:nvSpPr>
        <p:spPr>
          <a:xfrm>
            <a:off x="8092440" y="1773299"/>
            <a:ext cx="2240280" cy="1055032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2279C97-C9D9-5084-396C-6FB0A4A16D90}"/>
              </a:ext>
            </a:extLst>
          </p:cNvPr>
          <p:cNvSpPr/>
          <p:nvPr/>
        </p:nvSpPr>
        <p:spPr>
          <a:xfrm>
            <a:off x="8238744" y="191960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9E7808F-7BC2-305F-ABF3-F95B0EC0A4B8}"/>
              </a:ext>
            </a:extLst>
          </p:cNvPr>
          <p:cNvSpPr/>
          <p:nvPr/>
        </p:nvSpPr>
        <p:spPr>
          <a:xfrm>
            <a:off x="8238744" y="221221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800" b="1" dirty="0"/>
              <a:t>6 MCP tools – any agent host, zero glue code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415F0EB-80AE-5362-5AA7-6F1451147361}"/>
              </a:ext>
            </a:extLst>
          </p:cNvPr>
          <p:cNvSpPr/>
          <p:nvPr/>
        </p:nvSpPr>
        <p:spPr>
          <a:xfrm>
            <a:off x="11356848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5F66342-226F-A1DC-0526-FE61B3487F8C}"/>
              </a:ext>
            </a:extLst>
          </p:cNvPr>
          <p:cNvSpPr/>
          <p:nvPr/>
        </p:nvSpPr>
        <p:spPr>
          <a:xfrm>
            <a:off x="731520" y="2900844"/>
            <a:ext cx="7031736" cy="3469049"/>
          </a:xfrm>
          <a:prstGeom prst="roundRect">
            <a:avLst>
              <a:gd name="adj" fmla="val 2759"/>
            </a:avLst>
          </a:prstGeom>
          <a:solidFill>
            <a:srgbClr val="F5F7FA"/>
          </a:solidFill>
          <a:ln w="12700">
            <a:solidFill>
              <a:srgbClr val="E7ECF2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Diagonal Corners Rounded 28">
            <a:extLst>
              <a:ext uri="{FF2B5EF4-FFF2-40B4-BE49-F238E27FC236}">
                <a16:creationId xmlns:a16="http://schemas.microsoft.com/office/drawing/2014/main" id="{BF45C4B0-ACB9-1571-6C09-FE108D4DEFD0}"/>
              </a:ext>
            </a:extLst>
          </p:cNvPr>
          <p:cNvSpPr/>
          <p:nvPr/>
        </p:nvSpPr>
        <p:spPr>
          <a:xfrm>
            <a:off x="867563" y="3007934"/>
            <a:ext cx="3475837" cy="1443988"/>
          </a:xfrm>
          <a:prstGeom prst="roundRect">
            <a:avLst>
              <a:gd name="adj" fmla="val 275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7ECF2"/>
            </a:solidFill>
            <a:prstDash val="solid"/>
          </a:ln>
        </p:spPr>
        <p:txBody>
          <a:bodyPr lIns="91440" tIns="91440" rIns="91440" bIns="9144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</a:p>
          <a:p>
            <a:pPr marL="171450" indent="-171450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Scrum Masters see risk without opening five tools</a:t>
            </a:r>
          </a:p>
          <a:p>
            <a:pPr marL="171450" indent="-171450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Product owners get confidence based on current evidence</a:t>
            </a:r>
          </a:p>
          <a:p>
            <a:pPr marL="171450" indent="-171450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Managers can focus on the few issues that threaten the sprint</a:t>
            </a:r>
          </a:p>
        </p:txBody>
      </p:sp>
      <p:sp>
        <p:nvSpPr>
          <p:cNvPr id="30" name="Rectangle: Diagonal Corners Rounded 29">
            <a:extLst>
              <a:ext uri="{FF2B5EF4-FFF2-40B4-BE49-F238E27FC236}">
                <a16:creationId xmlns:a16="http://schemas.microsoft.com/office/drawing/2014/main" id="{112274D2-4809-0531-CC29-DCF51A66287C}"/>
              </a:ext>
            </a:extLst>
          </p:cNvPr>
          <p:cNvSpPr/>
          <p:nvPr/>
        </p:nvSpPr>
        <p:spPr>
          <a:xfrm>
            <a:off x="5009774" y="3007935"/>
            <a:ext cx="2623552" cy="1360056"/>
          </a:xfrm>
          <a:prstGeom prst="roundRect">
            <a:avLst>
              <a:gd name="adj" fmla="val 275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7ECF2"/>
            </a:solidFill>
            <a:prstDash val="solid"/>
          </a:ln>
        </p:spPr>
        <p:txBody>
          <a:bodyPr lIns="91440" tIns="91440" rIns="91440" bIns="9144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</a:p>
          <a:p>
            <a:pPr marL="171450" indent="-171450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Automates correlation of standups, Jira, and Git data</a:t>
            </a:r>
          </a:p>
          <a:p>
            <a:pPr marL="171450" indent="-171450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Converts unstructured standup conversations into structured actionable insights</a:t>
            </a:r>
          </a:p>
        </p:txBody>
      </p:sp>
      <p:sp>
        <p:nvSpPr>
          <p:cNvPr id="31" name="Rectangle: Diagonal Corners Rounded 30">
            <a:extLst>
              <a:ext uri="{FF2B5EF4-FFF2-40B4-BE49-F238E27FC236}">
                <a16:creationId xmlns:a16="http://schemas.microsoft.com/office/drawing/2014/main" id="{1FAB54D0-F12A-DD46-B60B-D92E9E5B9075}"/>
              </a:ext>
            </a:extLst>
          </p:cNvPr>
          <p:cNvSpPr/>
          <p:nvPr/>
        </p:nvSpPr>
        <p:spPr>
          <a:xfrm>
            <a:off x="867563" y="4591802"/>
            <a:ext cx="3475837" cy="1644292"/>
          </a:xfrm>
          <a:prstGeom prst="roundRect">
            <a:avLst>
              <a:gd name="adj" fmla="val 275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7ECF2"/>
            </a:solidFill>
            <a:prstDash val="solid"/>
          </a:ln>
        </p:spPr>
        <p:txBody>
          <a:bodyPr lIns="91440" tIns="91440" rIns="91440" bIns="9144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cs typeface="Arial" pitchFamily="34" charset="-120"/>
              </a:rPr>
              <a:t>Business</a:t>
            </a:r>
          </a:p>
          <a:p>
            <a:pPr marL="171450" indent="-171450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Improves sprint success and predictability by catching failures early</a:t>
            </a:r>
          </a:p>
          <a:p>
            <a:pPr marL="171450" indent="-171450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Reduces costly sprint delays</a:t>
            </a:r>
          </a:p>
          <a:p>
            <a:pPr marL="171450" indent="-171450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Prevents cascading impact: rework, scope cuts, missed releases, and burnout</a:t>
            </a:r>
          </a:p>
          <a:p>
            <a:pPr marL="171450" indent="-171450">
              <a:lnSpc>
                <a:spcPct val="13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Provides reusable intelligence layer across team/tools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94BBB06-1E90-6D4D-F83F-D7A1ED8BC9C5}"/>
              </a:ext>
            </a:extLst>
          </p:cNvPr>
          <p:cNvSpPr/>
          <p:nvPr/>
        </p:nvSpPr>
        <p:spPr>
          <a:xfrm rot="16200000">
            <a:off x="3005300" y="4449654"/>
            <a:ext cx="3319714" cy="371428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7ECF2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en-US" sz="1600" b="1" dirty="0">
                <a:latin typeface="Arial" pitchFamily="34" charset="0"/>
                <a:cs typeface="Arial" pitchFamily="34" charset="-120"/>
              </a:rPr>
              <a:t>Benefits story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1747F40-AB14-C7AA-C849-C646BC579907}"/>
              </a:ext>
            </a:extLst>
          </p:cNvPr>
          <p:cNvCxnSpPr>
            <a:cxnSpLocks/>
          </p:cNvCxnSpPr>
          <p:nvPr/>
        </p:nvCxnSpPr>
        <p:spPr>
          <a:xfrm>
            <a:off x="7964424" y="2857711"/>
            <a:ext cx="0" cy="35415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C758BFD1-1F7B-CC6B-6CFF-B4B7D829037C}"/>
              </a:ext>
            </a:extLst>
          </p:cNvPr>
          <p:cNvSpPr/>
          <p:nvPr/>
        </p:nvSpPr>
        <p:spPr>
          <a:xfrm>
            <a:off x="8271546" y="3569904"/>
            <a:ext cx="3482268" cy="20168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rgbClr val="FF5F07"/>
                </a:solidFill>
                <a:latin typeface="Arial" pitchFamily="34" charset="0"/>
                <a:cs typeface="Arial" pitchFamily="34" charset="-120"/>
              </a:rPr>
              <a:t>Proof: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Pilot: Standard 10-engineer Agile team baseline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Savings: ~$80K saved per avoided sprint delay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Risk: Fully auditable AI recommendations linked to Jira, Git, standups</a:t>
            </a:r>
          </a:p>
        </p:txBody>
      </p:sp>
      <p:sp>
        <p:nvSpPr>
          <p:cNvPr id="47" name="Rectangle: Diagonal Corners Rounded 29">
            <a:extLst>
              <a:ext uri="{FF2B5EF4-FFF2-40B4-BE49-F238E27FC236}">
                <a16:creationId xmlns:a16="http://schemas.microsoft.com/office/drawing/2014/main" id="{60D36B0B-5709-916A-49B1-1444FFBE8C34}"/>
              </a:ext>
            </a:extLst>
          </p:cNvPr>
          <p:cNvSpPr/>
          <p:nvPr/>
        </p:nvSpPr>
        <p:spPr>
          <a:xfrm>
            <a:off x="5033751" y="4472050"/>
            <a:ext cx="2623552" cy="1800735"/>
          </a:xfrm>
          <a:prstGeom prst="roundRect">
            <a:avLst>
              <a:gd name="adj" fmla="val 275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7ECF2"/>
            </a:solidFill>
            <a:prstDash val="solid"/>
          </a:ln>
        </p:spPr>
        <p:txBody>
          <a:bodyPr lIns="91440" tIns="91440" rIns="91440" bIns="91440" rtlCol="0" anchor="t"/>
          <a:lstStyle/>
          <a:p>
            <a:r>
              <a:rPr lang="en-US" sz="1100" b="1" dirty="0">
                <a:solidFill>
                  <a:srgbClr val="FF5F07"/>
                </a:solidFill>
                <a:latin typeface="Arial" pitchFamily="34" charset="0"/>
                <a:cs typeface="Arial" pitchFamily="34" charset="-120"/>
              </a:rPr>
              <a:t>Scalable for Persistent</a:t>
            </a:r>
            <a:r>
              <a:rPr lang="en-US" sz="1100" b="1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MCP-native six agent-callable tools work with Claude Code, Cursor, or any future host (zero glue code).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Every recommendation links back to source evidence: a reusable, auditable delivery-intelligence layer across client engagements.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Pluggable with </a:t>
            </a:r>
            <a:r>
              <a:rPr lang="en-US" sz="1100" dirty="0" err="1"/>
              <a:t>Persistent’s</a:t>
            </a:r>
            <a:r>
              <a:rPr lang="en-US" sz="1100" dirty="0"/>
              <a:t> Gen AI SDLC/PDLC framework</a:t>
            </a:r>
          </a:p>
        </p:txBody>
      </p:sp>
    </p:spTree>
    <p:extLst>
      <p:ext uri="{BB962C8B-B14F-4D97-AF65-F5344CB8AC3E}">
        <p14:creationId xmlns:p14="http://schemas.microsoft.com/office/powerpoint/2010/main" val="350386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| </a:t>
            </a:r>
            <a:r>
              <a:rPr lang="en-US" sz="800" dirty="0">
                <a:solidFill>
                  <a:srgbClr val="667085"/>
                </a:solidFill>
                <a:latin typeface="Arial" pitchFamily="34" charset="0"/>
                <a:cs typeface="Arial" pitchFamily="34" charset="-120"/>
              </a:rPr>
              <a:t>Persistent Systems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SprintPulse stands out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another dashboard. It is a delivery-risk interpreter with proof.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1828799"/>
            <a:ext cx="3657600" cy="4498847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197510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with today's way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23317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tracks work, but does not explain hidden risk</a:t>
            </a:r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tracks code, but not sprint confidence</a:t>
            </a:r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 capture intent, but not whether evidence agrees</a:t>
            </a:r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manually connect the dots after problems appear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26280" y="1828800"/>
            <a:ext cx="3657600" cy="4498846"/>
          </a:xfrm>
          <a:prstGeom prst="roundRect">
            <a:avLst>
              <a:gd name="adj" fmla="val 1000"/>
            </a:avLst>
          </a:prstGeom>
          <a:solidFill>
            <a:srgbClr val="FFF8F5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72584" y="1787652"/>
            <a:ext cx="332841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Our differentiators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200" b="1" dirty="0">
              <a:solidFill>
                <a:srgbClr val="091D40"/>
              </a:solidFill>
              <a:latin typeface="Arial" pitchFamily="34" charset="0"/>
              <a:cs typeface="Arial" pitchFamily="34" charset="-120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900" i="1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TOON-encoded AI prompts  </a:t>
            </a:r>
            <a:r>
              <a:rPr lang="en-US" sz="1900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- 40% fewer tokens per call than JSON, making per-member-per-sprint AI scoring economically viable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900" i="1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Source-agnostic transcript ingestion </a:t>
            </a:r>
            <a:r>
              <a:rPr lang="en-US" sz="1900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- one webhook handles Teams  VTT and plain "Speaker:" text. Any meeting tool, zero connectors required.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900" i="1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MCP-native</a:t>
            </a:r>
            <a:r>
              <a:rPr lang="en-US" sz="1900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 - agents read AND write </a:t>
            </a:r>
            <a:r>
              <a:rPr lang="en-US" sz="1900" dirty="0" err="1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SprintPulse</a:t>
            </a:r>
            <a:r>
              <a:rPr lang="en-US" sz="1900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 through 6 tools Claude Code, Cursor, future hosts all work with zero glue code                                    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900" i="1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Why Persistent is well-placed to build it </a:t>
            </a:r>
            <a:r>
              <a:rPr lang="en-US" sz="1900" dirty="0">
                <a:solidFill>
                  <a:srgbClr val="091D40"/>
                </a:solidFill>
                <a:latin typeface="Arial" pitchFamily="34" charset="0"/>
                <a:cs typeface="Arial" pitchFamily="34" charset="-120"/>
              </a:rPr>
              <a:t>- MCP just became standard; clients are asking for agent-ready delivery platforms. Persistent owns the delivery-services relationship and can deploy this across engagements</a:t>
            </a:r>
          </a:p>
        </p:txBody>
      </p:sp>
      <p:sp>
        <p:nvSpPr>
          <p:cNvPr id="15" name="Text 13"/>
          <p:cNvSpPr/>
          <p:nvPr/>
        </p:nvSpPr>
        <p:spPr>
          <a:xfrm>
            <a:off x="4736592" y="2331720"/>
            <a:ext cx="3246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75320" y="1828800"/>
            <a:ext cx="2926080" cy="4498846"/>
          </a:xfrm>
          <a:prstGeom prst="roundRect">
            <a:avLst>
              <a:gd name="adj" fmla="val 1250"/>
            </a:avLst>
          </a:prstGeom>
          <a:solidFill>
            <a:srgbClr val="F6F9FC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39912" y="197510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bites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85632" y="23317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SprintPulse turns delivery noise into an actionable sprint-risk signal.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85632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i="1" dirty="0"/>
              <a:t>Unlike static Jira boards, </a:t>
            </a:r>
            <a:r>
              <a:rPr lang="en-US" sz="1000" i="1" dirty="0" err="1"/>
              <a:t>SprintPulse</a:t>
            </a:r>
            <a:r>
              <a:rPr lang="en-US" sz="1000" i="1" dirty="0"/>
              <a:t> explains what is likely to slip, why it matters, and who should act next and any AI agent can read it through MCP.</a:t>
            </a:r>
          </a:p>
        </p:txBody>
      </p:sp>
      <p:sp>
        <p:nvSpPr>
          <p:cNvPr id="20" name="Text 18"/>
          <p:cNvSpPr/>
          <p:nvPr/>
        </p:nvSpPr>
        <p:spPr>
          <a:xfrm>
            <a:off x="8485632" y="4709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i="1" dirty="0"/>
              <a:t>Position against fragmented delivery visibility, not against any single tool. Lead with TOON, MCP, and source-agnostic ingestion - those are the proof-backed claims.</a:t>
            </a:r>
          </a:p>
        </p:txBody>
      </p:sp>
      <p:sp>
        <p:nvSpPr>
          <p:cNvPr id="21" name="Text 19"/>
          <p:cNvSpPr/>
          <p:nvPr/>
        </p:nvSpPr>
        <p:spPr>
          <a:xfrm>
            <a:off x="11356848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| </a:t>
            </a:r>
            <a:r>
              <a:rPr lang="en-US" sz="800" dirty="0">
                <a:solidFill>
                  <a:srgbClr val="667085"/>
                </a:solidFill>
                <a:latin typeface="Arial" pitchFamily="34" charset="0"/>
                <a:cs typeface="Arial" pitchFamily="34" charset="-120"/>
              </a:rPr>
              <a:t>Persistent Systems</a:t>
            </a:r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SprintPulse demo flow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12680" y="7863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828800"/>
            <a:ext cx="10972800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1975104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storyboard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2423160"/>
            <a:ext cx="2331720" cy="2423160"/>
          </a:xfrm>
          <a:prstGeom prst="roundRect">
            <a:avLst>
              <a:gd name="adj" fmla="val 1569"/>
            </a:avLst>
          </a:prstGeom>
          <a:solidFill>
            <a:srgbClr val="F6F9FC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61288" y="257860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5603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state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97864" y="2999232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Scrum Master opens a the </a:t>
            </a:r>
            <a:r>
              <a:rPr lang="en-US" sz="1200" dirty="0" err="1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SprintPulse</a:t>
            </a:r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dashboard to explain the features.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15453" y="3515868"/>
            <a:ext cx="310896" cy="201168"/>
          </a:xfrm>
          <a:prstGeom prst="chevron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0" y="2423160"/>
            <a:ext cx="2331720" cy="2423160"/>
          </a:xfrm>
          <a:prstGeom prst="roundRect">
            <a:avLst>
              <a:gd name="adj" fmla="val 1569"/>
            </a:avLst>
          </a:prstGeom>
          <a:solidFill>
            <a:srgbClr val="F6F9FC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58768" y="257860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69080" y="25603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95344" y="2999232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Teams transcripts, and Jira project into the </a:t>
            </a:r>
            <a:r>
              <a:rPr lang="en-US" sz="1200" dirty="0" err="1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SprintPulse</a:t>
            </a:r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17336" y="3515868"/>
            <a:ext cx="310896" cy="201168"/>
          </a:xfrm>
          <a:prstGeom prst="chevron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46520" y="2423160"/>
            <a:ext cx="2331720" cy="2423160"/>
          </a:xfrm>
          <a:prstGeom prst="roundRect">
            <a:avLst>
              <a:gd name="adj" fmla="val 1569"/>
            </a:avLst>
          </a:prstGeom>
          <a:solidFill>
            <a:srgbClr val="FFF8F5"/>
          </a:solidFill>
          <a:ln w="12700">
            <a:solidFill>
              <a:srgbClr val="FF5F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56248" y="257860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25603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moment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92824" y="2999232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SprintPulse</a:t>
            </a:r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surfaces blocked, stale, QA, review, and say-do gap risk with proof and recommended action.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13800" y="3493008"/>
            <a:ext cx="310896" cy="201168"/>
          </a:xfrm>
          <a:prstGeom prst="chevron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0" y="2423160"/>
            <a:ext cx="2331720" cy="2423160"/>
          </a:xfrm>
          <a:prstGeom prst="roundRect">
            <a:avLst>
              <a:gd name="adj" fmla="val 1569"/>
            </a:avLst>
          </a:prstGeom>
          <a:solidFill>
            <a:srgbClr val="F6F9FC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253728" y="257860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464040" y="25603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90304" y="2999232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Scrum Master knows which owner to follow up with, what evidence supports the risk, and what to do before sprint-end.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53492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56848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12280" y="685800"/>
            <a:ext cx="4572000" cy="4892040"/>
          </a:xfrm>
          <a:prstGeom prst="rect">
            <a:avLst/>
          </a:prstGeom>
          <a:solidFill>
            <a:srgbClr val="FFF8F5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83121" y="686753"/>
            <a:ext cx="5281612" cy="11725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2400" b="1" err="1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SprintPulse</a:t>
            </a:r>
            <a:r>
              <a:rPr lang="en-US" sz="24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 helps delivery teams catch sprint risk early by turning Jira, GitHub, standups, and AI into one evidence-backed action view.</a:t>
            </a:r>
            <a:endParaRPr lang="en-US" sz="2400">
              <a:solidFill>
                <a:srgbClr val="000000"/>
              </a:solidFill>
              <a:cs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3121" y="2631757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Short-term (next phase)</a:t>
            </a:r>
            <a:endParaRPr lang="en-US" dirty="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Segoe UI"/>
                <a:cs typeface="Segoe UI"/>
              </a:rPr>
              <a:t>Real-time Slack/Teams alerts for high-risk sprint signals</a:t>
            </a:r>
            <a:endParaRPr lang="en-US" sz="1100" dirty="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Segoe UI"/>
                <a:cs typeface="Segoe UI"/>
              </a:rPr>
              <a:t>Integration with Azure DevOps, Google chat (multi-tool coverage)</a:t>
            </a:r>
            <a:endParaRPr lang="en-US" sz="1100" dirty="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Segoe UI"/>
                <a:cs typeface="Segoe UI"/>
              </a:rPr>
              <a:t>Advanced dashboards with team-wise and sprint-wise insights</a:t>
            </a:r>
          </a:p>
          <a:p>
            <a:pPr marL="285750" indent="-285750"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Segoe UI"/>
                <a:cs typeface="Segoe UI"/>
              </a:rPr>
              <a:t>Expanding MCP to more than 6</a:t>
            </a:r>
            <a:endParaRPr lang="en-US" sz="1100" dirty="0">
              <a:solidFill>
                <a:schemeClr val="bg1"/>
              </a:solidFill>
              <a:cs typeface="Arial"/>
            </a:endParaRPr>
          </a:p>
          <a:p>
            <a:r>
              <a:rPr lang="en-US" dirty="0">
                <a:solidFill>
                  <a:schemeClr val="bg1"/>
                </a:solidFill>
              </a:rPr>
              <a:t> Mid-term</a:t>
            </a:r>
            <a:endParaRPr lang="en-US" dirty="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Segoe UI"/>
                <a:cs typeface="Segoe UI"/>
              </a:rPr>
              <a:t>AI-driven root cause analysis for delays and blockers</a:t>
            </a:r>
            <a:endParaRPr lang="en-US" sz="1100" dirty="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Segoe UI"/>
                <a:cs typeface="Segoe UI"/>
              </a:rPr>
              <a:t>Personalized recommendations for Scrum Masters and managers</a:t>
            </a:r>
            <a:endParaRPr lang="en-US" sz="1100" dirty="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Segoe UI"/>
                <a:cs typeface="Segoe UI"/>
              </a:rPr>
              <a:t>Predictive sprint planning suggestions (capacity vs risk)</a:t>
            </a:r>
            <a:endParaRPr lang="en-US" sz="1100" dirty="0">
              <a:solidFill>
                <a:schemeClr val="bg1"/>
              </a:solidFill>
              <a:cs typeface="Arial"/>
            </a:endParaRPr>
          </a:p>
          <a:p>
            <a:r>
              <a:rPr lang="en-US" dirty="0">
                <a:solidFill>
                  <a:schemeClr val="bg1"/>
                </a:solidFill>
              </a:rPr>
              <a:t> Long-term (high-impact / visionary)</a:t>
            </a:r>
            <a:endParaRPr lang="en-US" dirty="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Segoe UI"/>
                <a:cs typeface="Segoe UI"/>
              </a:rPr>
              <a:t>Organization-wide engineering health score</a:t>
            </a:r>
            <a:endParaRPr lang="en-US" sz="1100" dirty="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Segoe UI"/>
                <a:cs typeface="Segoe UI"/>
              </a:rPr>
              <a:t>Burnout and team well-being predictive analytics</a:t>
            </a:r>
            <a:endParaRPr lang="en-US" sz="1100" dirty="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Segoe UI"/>
                <a:cs typeface="Segoe UI"/>
              </a:rPr>
              <a:t>Extension to other workflows: PR reviews, status reports, meetings</a:t>
            </a:r>
            <a:endParaRPr lang="en-US" sz="1100" dirty="0">
              <a:solidFill>
                <a:schemeClr val="bg1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Segoe UI"/>
                <a:cs typeface="Segoe UI"/>
              </a:rPr>
              <a:t>Advanced Autonomous AI assistant for sprint risk mitigation</a:t>
            </a:r>
          </a:p>
          <a:p>
            <a:pPr marL="285750" indent="-285750">
              <a:buFont typeface="Arial"/>
              <a:buChar char="•"/>
            </a:pPr>
            <a:r>
              <a:rPr lang="en-US" sz="1100" dirty="0">
                <a:solidFill>
                  <a:schemeClr val="bg1"/>
                </a:solidFill>
                <a:latin typeface="Segoe UI"/>
                <a:cs typeface="Segoe UI"/>
              </a:rPr>
              <a:t>Self healing sprints - AI Agents check health scores and heals the sprint.</a:t>
            </a:r>
            <a:endParaRPr lang="en-US" sz="1100" dirty="0">
              <a:solidFill>
                <a:schemeClr val="bg1"/>
              </a:solidFill>
              <a:cs typeface="Arial"/>
            </a:endParaRPr>
          </a:p>
          <a:p>
            <a:pPr marL="0" indent="0">
              <a:buNone/>
            </a:pPr>
            <a:endParaRPr lang="en-US" sz="1500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8660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00" b="1" dirty="0">
              <a:solidFill>
                <a:srgbClr val="FF5F07"/>
              </a:solidFill>
              <a:latin typeface="Arial"/>
              <a:cs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7273480" y="1882331"/>
            <a:ext cx="3657600" cy="29841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b="1" i="1" dirty="0">
                <a:solidFill>
                  <a:srgbClr val="091D40"/>
                </a:solidFill>
                <a:latin typeface="Arial"/>
                <a:cs typeface="Arial"/>
              </a:rPr>
              <a:t>No more end‑of‑sprint surprises.</a:t>
            </a:r>
            <a:endParaRPr lang="en-US" b="1" i="1" dirty="0">
              <a:solidFill>
                <a:srgbClr val="000000"/>
              </a:solidFill>
              <a:latin typeface="Arial"/>
              <a:cs typeface="Arial"/>
            </a:endParaRPr>
          </a:p>
          <a:p>
            <a:pPr algn="ctr"/>
            <a:r>
              <a:rPr lang="en-US" b="1" i="1" dirty="0" err="1">
                <a:solidFill>
                  <a:srgbClr val="091D40"/>
                </a:solidFill>
                <a:latin typeface="Arial"/>
                <a:cs typeface="Arial"/>
              </a:rPr>
              <a:t>SprintPulse</a:t>
            </a:r>
            <a:r>
              <a:rPr lang="en-US" b="1" i="1" dirty="0">
                <a:solidFill>
                  <a:srgbClr val="091D40"/>
                </a:solidFill>
                <a:latin typeface="Arial"/>
                <a:cs typeface="Arial"/>
              </a:rPr>
              <a:t> AI makes delivery predictable.</a:t>
            </a:r>
            <a:endParaRPr lang="en-US" b="1" i="1" dirty="0">
              <a:latin typeface="Arial"/>
              <a:cs typeface="Arial"/>
            </a:endParaRPr>
          </a:p>
          <a:p>
            <a:endParaRPr lang="en-US" b="1" i="1" dirty="0">
              <a:solidFill>
                <a:srgbClr val="091D40"/>
              </a:solidFill>
              <a:latin typeface="Arial"/>
              <a:cs typeface="Arial"/>
            </a:endParaRPr>
          </a:p>
          <a:p>
            <a:pPr marL="190500" indent="-190500">
              <a:buSzPct val="100000"/>
              <a:buChar char="•"/>
            </a:pPr>
            <a:endParaRPr lang="en-US" b="1" i="1" dirty="0">
              <a:solidFill>
                <a:srgbClr val="091D40"/>
              </a:solidFill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57150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Avengers  | Horizontal Markets HM DU 3 | </a:t>
            </a:r>
            <a:r>
              <a:rPr lang="en-US" sz="1100" dirty="0" err="1">
                <a:solidFill>
                  <a:srgbClr val="D8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SprintPulse</a:t>
            </a:r>
            <a:r>
              <a:rPr lang="en-US" sz="1100" dirty="0">
                <a:solidFill>
                  <a:srgbClr val="D8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| Persistent Systems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356848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3DD0B-D6E9-00EB-E01E-D4073EAC2754}"/>
              </a:ext>
            </a:extLst>
          </p:cNvPr>
          <p:cNvSpPr txBox="1"/>
          <p:nvPr/>
        </p:nvSpPr>
        <p:spPr>
          <a:xfrm>
            <a:off x="360083" y="2262425"/>
            <a:ext cx="22529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cs typeface="Arial"/>
              </a:rPr>
              <a:t>Next Action Plan:</a:t>
            </a:r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8D826-5322-D172-4D8A-32E820D0E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7190DAA-439B-EBFD-F7E1-ECD79E38F5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82772" y="6279946"/>
            <a:ext cx="3183388" cy="301194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FE5E21-FD07-B44E-90A3-0254BFCDB49A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FF5F0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Confidential © 2026 Persistent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57E055-31AF-017E-787C-1C2A9B44FF0C}"/>
              </a:ext>
            </a:extLst>
          </p:cNvPr>
          <p:cNvSpPr txBox="1"/>
          <p:nvPr/>
        </p:nvSpPr>
        <p:spPr>
          <a:xfrm>
            <a:off x="243072" y="234434"/>
            <a:ext cx="58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Team: Algorithm Avengers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FF2D3EB-A0E2-C6C1-4881-98E04D3872DC}"/>
              </a:ext>
            </a:extLst>
          </p:cNvPr>
          <p:cNvSpPr/>
          <p:nvPr/>
        </p:nvSpPr>
        <p:spPr>
          <a:xfrm>
            <a:off x="546100" y="914400"/>
            <a:ext cx="2260600" cy="2209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B628D6-D4F5-1B97-5205-BB03E278A115}"/>
              </a:ext>
            </a:extLst>
          </p:cNvPr>
          <p:cNvSpPr/>
          <p:nvPr/>
        </p:nvSpPr>
        <p:spPr>
          <a:xfrm>
            <a:off x="3345564" y="914400"/>
            <a:ext cx="2260600" cy="2209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8DDF5D0-61DF-4832-869F-8EBFD276A68E}"/>
              </a:ext>
            </a:extLst>
          </p:cNvPr>
          <p:cNvSpPr/>
          <p:nvPr/>
        </p:nvSpPr>
        <p:spPr>
          <a:xfrm>
            <a:off x="5969000" y="914400"/>
            <a:ext cx="2260600" cy="2209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BD03403-2C4C-1D9A-7C28-8E9C21969DF5}"/>
              </a:ext>
            </a:extLst>
          </p:cNvPr>
          <p:cNvSpPr/>
          <p:nvPr/>
        </p:nvSpPr>
        <p:spPr>
          <a:xfrm>
            <a:off x="8768464" y="914400"/>
            <a:ext cx="2260600" cy="2209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8B09E73-3ACE-DD84-9383-EEF24E7959C1}"/>
              </a:ext>
            </a:extLst>
          </p:cNvPr>
          <p:cNvSpPr/>
          <p:nvPr/>
        </p:nvSpPr>
        <p:spPr>
          <a:xfrm>
            <a:off x="539366" y="3697236"/>
            <a:ext cx="2260600" cy="2209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91548C6-C3BF-BECA-2EB1-372663828547}"/>
              </a:ext>
            </a:extLst>
          </p:cNvPr>
          <p:cNvSpPr/>
          <p:nvPr/>
        </p:nvSpPr>
        <p:spPr>
          <a:xfrm>
            <a:off x="3317683" y="3733801"/>
            <a:ext cx="2260600" cy="2209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1EC98DE-DD5E-89BC-A587-9D782DFDF922}"/>
              </a:ext>
            </a:extLst>
          </p:cNvPr>
          <p:cNvSpPr/>
          <p:nvPr/>
        </p:nvSpPr>
        <p:spPr>
          <a:xfrm>
            <a:off x="6068724" y="3733801"/>
            <a:ext cx="2260600" cy="2209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37DF2CB-46CC-CAAE-24C0-C7235A81E51C}"/>
              </a:ext>
            </a:extLst>
          </p:cNvPr>
          <p:cNvSpPr/>
          <p:nvPr/>
        </p:nvSpPr>
        <p:spPr>
          <a:xfrm>
            <a:off x="8893928" y="3697236"/>
            <a:ext cx="2260600" cy="2209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38A7127-497A-F1C1-0ED5-9202FB0E6B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97" t="4465" r="9625" b="6564"/>
          <a:stretch>
            <a:fillRect/>
          </a:stretch>
        </p:blipFill>
        <p:spPr>
          <a:xfrm>
            <a:off x="9013138" y="3791046"/>
            <a:ext cx="2022180" cy="2022180"/>
          </a:xfrm>
          <a:prstGeom prst="ellipse">
            <a:avLst/>
          </a:prstGeom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9AC2A22E-398E-2F9E-221E-F061229484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" b="4942"/>
          <a:stretch>
            <a:fillRect/>
          </a:stretch>
        </p:blipFill>
        <p:spPr bwMode="auto">
          <a:xfrm>
            <a:off x="648333" y="997965"/>
            <a:ext cx="2042666" cy="204266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6E222A99-5F4F-0AAC-92CA-9183148BA6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776" y="1000227"/>
            <a:ext cx="2030160" cy="203016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87C5194-8B77-D4AB-348F-0DBC6CD6DFDE}"/>
              </a:ext>
            </a:extLst>
          </p:cNvPr>
          <p:cNvSpPr txBox="1"/>
          <p:nvPr/>
        </p:nvSpPr>
        <p:spPr>
          <a:xfrm>
            <a:off x="546100" y="3139660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Yash Srivastav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DE5EAB-A892-A468-A828-784DB30B6820}"/>
              </a:ext>
            </a:extLst>
          </p:cNvPr>
          <p:cNvSpPr txBox="1"/>
          <p:nvPr/>
        </p:nvSpPr>
        <p:spPr>
          <a:xfrm>
            <a:off x="3345564" y="3139660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Atharv </a:t>
            </a:r>
            <a:r>
              <a:rPr lang="en-US" dirty="0" err="1"/>
              <a:t>Arolkar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C89585-1138-68BF-91C3-0E55F2A42DCF}"/>
              </a:ext>
            </a:extLst>
          </p:cNvPr>
          <p:cNvSpPr txBox="1"/>
          <p:nvPr/>
        </p:nvSpPr>
        <p:spPr>
          <a:xfrm>
            <a:off x="5969000" y="3149468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Vipindas</a:t>
            </a:r>
            <a:r>
              <a:rPr lang="en-US" dirty="0"/>
              <a:t> Nambiar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6C3949-E2E6-B959-099C-46E5855F867C}"/>
              </a:ext>
            </a:extLst>
          </p:cNvPr>
          <p:cNvSpPr txBox="1"/>
          <p:nvPr/>
        </p:nvSpPr>
        <p:spPr>
          <a:xfrm>
            <a:off x="8893928" y="5907036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Janice De Souza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33C108-B974-B606-67D6-FFB8FEE92F61}"/>
              </a:ext>
            </a:extLst>
          </p:cNvPr>
          <p:cNvSpPr txBox="1"/>
          <p:nvPr/>
        </p:nvSpPr>
        <p:spPr>
          <a:xfrm>
            <a:off x="8768464" y="3160764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Yanshi Gupta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871F5E-CE3F-7925-2427-B1959EE40975}"/>
              </a:ext>
            </a:extLst>
          </p:cNvPr>
          <p:cNvSpPr txBox="1"/>
          <p:nvPr/>
        </p:nvSpPr>
        <p:spPr>
          <a:xfrm>
            <a:off x="6068724" y="5906904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Mahesh Nagpure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71936B-2B58-C284-D1E5-E5CAE8E1BA31}"/>
              </a:ext>
            </a:extLst>
          </p:cNvPr>
          <p:cNvSpPr txBox="1"/>
          <p:nvPr/>
        </p:nvSpPr>
        <p:spPr>
          <a:xfrm>
            <a:off x="3317683" y="5915681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Himanshu </a:t>
            </a:r>
            <a:r>
              <a:rPr lang="en-US" dirty="0" err="1"/>
              <a:t>Banoula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366392-2A8E-A482-E816-633AD2B87168}"/>
              </a:ext>
            </a:extLst>
          </p:cNvPr>
          <p:cNvSpPr txBox="1"/>
          <p:nvPr/>
        </p:nvSpPr>
        <p:spPr>
          <a:xfrm>
            <a:off x="546100" y="5928824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Vikrant Khedkar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11593AF-7718-9D0E-B66A-1C1811F8027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162" b="2162"/>
          <a:stretch>
            <a:fillRect/>
          </a:stretch>
        </p:blipFill>
        <p:spPr>
          <a:xfrm>
            <a:off x="6096460" y="1012467"/>
            <a:ext cx="2005680" cy="2005680"/>
          </a:xfrm>
          <a:prstGeom prst="ellipse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505A745-6E29-45AC-54E0-5534356B57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41" r="341"/>
          <a:stretch>
            <a:fillRect/>
          </a:stretch>
        </p:blipFill>
        <p:spPr>
          <a:xfrm>
            <a:off x="3458455" y="3846565"/>
            <a:ext cx="1979056" cy="1984272"/>
          </a:xfrm>
          <a:prstGeom prst="ellipse">
            <a:avLst/>
          </a:prstGeom>
        </p:spPr>
      </p:pic>
      <p:pic>
        <p:nvPicPr>
          <p:cNvPr id="36" name="Picture 14">
            <a:extLst>
              <a:ext uri="{FF2B5EF4-FFF2-40B4-BE49-F238E27FC236}">
                <a16:creationId xmlns:a16="http://schemas.microsoft.com/office/drawing/2014/main" id="{8BB9F5CF-202D-2236-9A44-1E65FD92F3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3" r="5233"/>
          <a:stretch>
            <a:fillRect/>
          </a:stretch>
        </p:blipFill>
        <p:spPr bwMode="auto">
          <a:xfrm>
            <a:off x="8901600" y="1012467"/>
            <a:ext cx="1994327" cy="199432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C218444-92F1-908C-1D15-5DD8C3A8E7B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6424" b="6424"/>
          <a:stretch>
            <a:fillRect/>
          </a:stretch>
        </p:blipFill>
        <p:spPr>
          <a:xfrm>
            <a:off x="648333" y="3800475"/>
            <a:ext cx="2011110" cy="2011110"/>
          </a:xfrm>
          <a:prstGeom prst="ellipse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14B8809-8AA3-0EB1-26B1-EE24D0A2965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82" r="682"/>
          <a:stretch>
            <a:fillRect/>
          </a:stretch>
        </p:blipFill>
        <p:spPr>
          <a:xfrm>
            <a:off x="6207007" y="3846565"/>
            <a:ext cx="1998968" cy="199896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731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4beacd-b7aa-49b2-aaa1-b8525cb257e0}" enabled="0" method="" siteId="{1f4beacd-b7aa-49b2-aaa1-b8525cb257e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1696</Words>
  <Application>Microsoft Macintosh PowerPoint</Application>
  <PresentationFormat>Widescreen</PresentationFormat>
  <Paragraphs>201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Arial,Sans-Serif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Persistent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Semicolons 2026 Solution Pitch Template</dc:title>
  <dc:subject>Semicolons 2026 Solution Pitch Template</dc:subject>
  <dc:creator>OpenAI Codex</dc:creator>
  <cp:lastModifiedBy>Yash Srivastav</cp:lastModifiedBy>
  <cp:revision>174</cp:revision>
  <dcterms:created xsi:type="dcterms:W3CDTF">2026-05-14T09:23:00Z</dcterms:created>
  <dcterms:modified xsi:type="dcterms:W3CDTF">2026-05-16T22:00:47Z</dcterms:modified>
</cp:coreProperties>
</file>